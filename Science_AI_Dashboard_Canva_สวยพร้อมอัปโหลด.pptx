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1695" cy="6858000" type="wide"/>
  <p:notesSz cx="6858000" cy="9144000"/>
  <p:defaultTextStyle>
    <a:defPPr>
      <a:defRPr lang="th-TH">
        <a:latin typeface="Tahoma"/>
        <a:ea typeface="Tahoma"/>
        <a:cs typeface="Tahoma"/>
      </a:defRPr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>
          <a:latin typeface="Tahoma"/>
          <a:ea typeface="Tahoma"/>
          <a:cs typeface="Tahoma"/>
        </a:defRPr>
      </a:lvl1pPr>
    </p:titleStyle>
    <p:bodyStyle>
      <a:lvl1pPr>
        <a:defRPr sz="2000">
          <a:latin typeface="Tahoma"/>
          <a:ea typeface="Tahoma"/>
          <a:cs typeface="Tahoma"/>
        </a:defRPr>
      </a:lvl1pPr>
    </p:bodyStyle>
    <p:otherStyle>
      <a:lvl1pPr>
        <a:defRPr sz="1800">
          <a:latin typeface="Tahoma"/>
          <a:ea typeface="Tahoma"/>
          <a:cs typeface="Tahoma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7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4" name="rect4"/>
          <p:cNvSpPr/>
          <p:nvPr/>
        </p:nvSpPr>
        <p:spPr>
          <a:xfrm>
            <a:off x="310896" y="0"/>
            <a:ext cx="82296" cy="6858000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8368" y="621792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C5A028"/>
                </a:solidFill>
                <a:latin typeface="Tahoma"/>
                <a:ea typeface="Tahoma"/>
                <a:cs typeface="Tahoma"/>
              </a:rPr>
              <a:t>FINAL PROJECT PRESENTATION</a:t>
            </a:r>
            <a:endParaRPr lang="th-TH" sz="1200"/>
          </a:p>
        </p:txBody>
      </p:sp>
      <p:sp>
        <p:nvSpPr>
          <p:cNvPr id="6" name="TextBox 6"/>
          <p:cNvSpPr txBox="1"/>
          <p:nvPr/>
        </p:nvSpPr>
        <p:spPr>
          <a:xfrm>
            <a:off x="658368" y="1078992"/>
            <a:ext cx="6035040" cy="1481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41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Science AI</a:t>
            </a:r>
            <a:endParaRPr lang="th-TH" sz="4100"/>
          </a:p>
          <a:p>
            <a:pPr/>
            <a:r>
              <a:rPr lang="th-TH" sz="41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Dashboard</a:t>
            </a:r>
            <a:endParaRPr lang="th-TH" sz="4100"/>
          </a:p>
        </p:txBody>
      </p:sp>
      <p:sp>
        <p:nvSpPr>
          <p:cNvPr id="7" name="TextBox 7"/>
          <p:cNvSpPr txBox="1"/>
          <p:nvPr/>
        </p:nvSpPr>
        <p:spPr>
          <a:xfrm>
            <a:off x="694944" y="2761488"/>
            <a:ext cx="786384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000" dirty="0">
                <a:solidFill>
                  <a:srgbClr val="DDECE0"/>
                </a:solidFill>
                <a:latin typeface="Tahoma"/>
                <a:ea typeface="Tahoma"/>
                <a:cs typeface="Tahoma"/>
              </a:rPr>
              <a:t>ระบบ Dashboard อัจฉริยะสำหรับคณะวิทยาศาสตร์ มหาวิทยาลัยแม่โจ้</a:t>
            </a:r>
            <a:endParaRPr lang="th-TH" sz="2000"/>
          </a:p>
          <a:p>
            <a:pPr/>
            <a:r>
              <a:rPr lang="th-TH" sz="2000" dirty="0">
                <a:solidFill>
                  <a:srgbClr val="DDECE0"/>
                </a:solidFill>
                <a:latin typeface="Tahoma"/>
                <a:ea typeface="Tahoma"/>
                <a:cs typeface="Tahoma"/>
              </a:rPr>
              <a:t>โดยใช้เทคโนโลยี AI</a:t>
            </a:r>
            <a:endParaRPr lang="th-TH" sz="2000"/>
          </a:p>
        </p:txBody>
      </p:sp>
      <p:sp>
        <p:nvSpPr>
          <p:cNvPr id="8" name="roundRect8"/>
          <p:cNvSpPr/>
          <p:nvPr/>
        </p:nvSpPr>
        <p:spPr>
          <a:xfrm>
            <a:off x="713232" y="3913632"/>
            <a:ext cx="1325880" cy="34747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86384" y="3982212"/>
            <a:ext cx="11795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th-TH" sz="102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React 19</a:t>
            </a:r>
            <a:endParaRPr lang="th-TH" sz="1020"/>
          </a:p>
        </p:txBody>
      </p:sp>
      <p:sp>
        <p:nvSpPr>
          <p:cNvPr id="10" name="roundRect10"/>
          <p:cNvSpPr/>
          <p:nvPr/>
        </p:nvSpPr>
        <p:spPr>
          <a:xfrm>
            <a:off x="2212848" y="3913632"/>
            <a:ext cx="1572768" cy="347472"/>
          </a:xfrm>
          <a:prstGeom prst="round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286000" y="3982212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th-TH" sz="102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Firebase Auth</a:t>
            </a:r>
            <a:endParaRPr lang="th-TH" sz="1020"/>
          </a:p>
        </p:txBody>
      </p:sp>
      <p:sp>
        <p:nvSpPr>
          <p:cNvPr id="12" name="roundRect12"/>
          <p:cNvSpPr/>
          <p:nvPr/>
        </p:nvSpPr>
        <p:spPr>
          <a:xfrm>
            <a:off x="3977640" y="3913632"/>
            <a:ext cx="1417320" cy="347472"/>
          </a:xfrm>
          <a:prstGeom prst="roundRect">
            <a:avLst/>
          </a:prstGeom>
          <a:solidFill>
            <a:srgbClr val="A23B7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050792" y="3982212"/>
            <a:ext cx="12710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th-TH" sz="102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Gemini AI</a:t>
            </a:r>
            <a:endParaRPr lang="th-TH" sz="1020"/>
          </a:p>
        </p:txBody>
      </p:sp>
      <p:sp>
        <p:nvSpPr>
          <p:cNvPr id="14" name="roundRect14"/>
          <p:cNvSpPr/>
          <p:nvPr/>
        </p:nvSpPr>
        <p:spPr>
          <a:xfrm>
            <a:off x="5577840" y="3913632"/>
            <a:ext cx="1234440" cy="347472"/>
          </a:xfrm>
          <a:prstGeom prst="round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650992" y="3982212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th-TH" sz="102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Chart.js</a:t>
            </a:r>
            <a:endParaRPr lang="th-TH" sz="1020"/>
          </a:p>
        </p:txBody>
      </p:sp>
      <p:sp>
        <p:nvSpPr>
          <p:cNvPr id="16" name="roundRect16"/>
          <p:cNvSpPr/>
          <p:nvPr/>
        </p:nvSpPr>
        <p:spPr>
          <a:xfrm>
            <a:off x="7882128" y="914400"/>
            <a:ext cx="3529584" cy="4343400"/>
          </a:xfrm>
          <a:prstGeom prst="roundRect">
            <a:avLst/>
          </a:prstGeom>
          <a:solidFill>
            <a:srgbClr val="102C20"/>
          </a:solidFill>
          <a:ln w="12700">
            <a:solidFill>
              <a:srgbClr val="285A42"/>
            </a:solidFill>
          </a:ln>
        </p:spPr>
      </p:sp>
      <p:sp>
        <p:nvSpPr>
          <p:cNvPr id="17" name="roundRect17"/>
          <p:cNvSpPr/>
          <p:nvPr/>
        </p:nvSpPr>
        <p:spPr>
          <a:xfrm>
            <a:off x="8247888" y="1261872"/>
            <a:ext cx="2798064" cy="822960"/>
          </a:xfrm>
          <a:prstGeom prst="roundRect">
            <a:avLst/>
          </a:prstGeom>
          <a:solidFill>
            <a:srgbClr val="173A2B"/>
          </a:solidFill>
          <a:ln w="12700">
            <a:solidFill>
              <a:srgbClr val="285A42"/>
            </a:solidFill>
          </a:ln>
        </p:spPr>
      </p:sp>
      <p:sp>
        <p:nvSpPr>
          <p:cNvPr id="18" name="rect18"/>
          <p:cNvSpPr/>
          <p:nvPr/>
        </p:nvSpPr>
        <p:spPr>
          <a:xfrm>
            <a:off x="8247888" y="1261872"/>
            <a:ext cx="73152" cy="822960"/>
          </a:xfrm>
          <a:prstGeom prst="rect">
            <a:avLst/>
          </a:prstGeom>
          <a:solidFill>
            <a:srgbClr val="00A65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76488" y="1444752"/>
            <a:ext cx="2386584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BBD7C2"/>
                </a:solidFill>
                <a:latin typeface="Tahoma"/>
                <a:ea typeface="Tahoma"/>
                <a:cs typeface="Tahoma"/>
              </a:rPr>
              <a:t>นักศึกษาทั้งมหาวิทยาลัย</a:t>
            </a:r>
            <a:endParaRPr lang="th-TH" sz="1200"/>
          </a:p>
        </p:txBody>
      </p:sp>
      <p:sp>
        <p:nvSpPr>
          <p:cNvPr id="20" name="TextBox 20"/>
          <p:cNvSpPr txBox="1"/>
          <p:nvPr/>
        </p:nvSpPr>
        <p:spPr>
          <a:xfrm>
            <a:off x="8476488" y="1792224"/>
            <a:ext cx="2386584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5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16,838</a:t>
            </a:r>
            <a:endParaRPr lang="th-TH" sz="2500"/>
          </a:p>
        </p:txBody>
      </p:sp>
      <p:sp>
        <p:nvSpPr>
          <p:cNvPr id="21" name="roundRect21"/>
          <p:cNvSpPr/>
          <p:nvPr/>
        </p:nvSpPr>
        <p:spPr>
          <a:xfrm>
            <a:off x="8247888" y="2304288"/>
            <a:ext cx="2798064" cy="822960"/>
          </a:xfrm>
          <a:prstGeom prst="roundRect">
            <a:avLst/>
          </a:prstGeom>
          <a:solidFill>
            <a:srgbClr val="173A2B"/>
          </a:solidFill>
          <a:ln w="12700">
            <a:solidFill>
              <a:srgbClr val="285A42"/>
            </a:solidFill>
          </a:ln>
        </p:spPr>
      </p:sp>
      <p:sp>
        <p:nvSpPr>
          <p:cNvPr id="22" name="rect22"/>
          <p:cNvSpPr/>
          <p:nvPr/>
        </p:nvSpPr>
        <p:spPr>
          <a:xfrm>
            <a:off x="8247888" y="2304288"/>
            <a:ext cx="73152" cy="822960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476488" y="2487168"/>
            <a:ext cx="2386584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BBD7C2"/>
                </a:solidFill>
                <a:latin typeface="Tahoma"/>
                <a:ea typeface="Tahoma"/>
                <a:cs typeface="Tahoma"/>
              </a:rPr>
              <a:t>นักศึกษาคณะวิทยาศาสตร์</a:t>
            </a:r>
            <a:endParaRPr lang="th-TH" sz="1200"/>
          </a:p>
        </p:txBody>
      </p:sp>
      <p:sp>
        <p:nvSpPr>
          <p:cNvPr id="24" name="TextBox 24"/>
          <p:cNvSpPr txBox="1"/>
          <p:nvPr/>
        </p:nvSpPr>
        <p:spPr>
          <a:xfrm>
            <a:off x="8476488" y="2834640"/>
            <a:ext cx="2386584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5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1,450</a:t>
            </a:r>
            <a:endParaRPr lang="th-TH" sz="2500"/>
          </a:p>
        </p:txBody>
      </p:sp>
      <p:sp>
        <p:nvSpPr>
          <p:cNvPr id="25" name="roundRect25"/>
          <p:cNvSpPr/>
          <p:nvPr/>
        </p:nvSpPr>
        <p:spPr>
          <a:xfrm>
            <a:off x="8247888" y="3346704"/>
            <a:ext cx="2798064" cy="822960"/>
          </a:xfrm>
          <a:prstGeom prst="roundRect">
            <a:avLst/>
          </a:prstGeom>
          <a:solidFill>
            <a:srgbClr val="173A2B"/>
          </a:solidFill>
          <a:ln w="12700">
            <a:solidFill>
              <a:srgbClr val="285A42"/>
            </a:solidFill>
          </a:ln>
        </p:spPr>
      </p:sp>
      <p:sp>
        <p:nvSpPr>
          <p:cNvPr id="26" name="rect26"/>
          <p:cNvSpPr/>
          <p:nvPr/>
        </p:nvSpPr>
        <p:spPr>
          <a:xfrm>
            <a:off x="8247888" y="3346704"/>
            <a:ext cx="73152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476488" y="3529584"/>
            <a:ext cx="2386584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BBD7C2"/>
                </a:solidFill>
                <a:latin typeface="Tahoma"/>
                <a:ea typeface="Tahoma"/>
                <a:cs typeface="Tahoma"/>
              </a:rPr>
              <a:t>AI + Data Visualization</a:t>
            </a:r>
            <a:endParaRPr lang="th-TH" sz="1200"/>
          </a:p>
        </p:txBody>
      </p:sp>
      <p:sp>
        <p:nvSpPr>
          <p:cNvPr id="28" name="TextBox 28"/>
          <p:cNvSpPr txBox="1"/>
          <p:nvPr/>
        </p:nvSpPr>
        <p:spPr>
          <a:xfrm>
            <a:off x="8476488" y="3877056"/>
            <a:ext cx="2386584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3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15 หน้าจอ</a:t>
            </a:r>
            <a:endParaRPr lang="th-TH" sz="2300"/>
          </a:p>
        </p:txBody>
      </p:sp>
      <p:sp>
        <p:nvSpPr>
          <p:cNvPr id="29" name="TextBox 29"/>
          <p:cNvSpPr txBox="1"/>
          <p:nvPr/>
        </p:nvSpPr>
        <p:spPr>
          <a:xfrm>
            <a:off x="713232" y="610819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50" dirty="0">
                <a:solidFill>
                  <a:srgbClr val="DDECE0"/>
                </a:solidFill>
                <a:latin typeface="Tahoma"/>
                <a:ea typeface="Tahoma"/>
                <a:cs typeface="Tahoma"/>
              </a:rPr>
              <a:t>คณะวิทยาศาสตร์ มหาวิทยาลัยแม่โจ้</a:t>
            </a:r>
            <a:endParaRPr lang="th-TH" sz="12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9646920" y="-777240"/>
            <a:ext cx="2971800" cy="1874520"/>
          </a:xfrm>
          <a:prstGeom prst="ellipse">
            <a:avLst/>
          </a:prstGeom>
          <a:solidFill>
            <a:srgbClr val="E4F3E8"/>
          </a:solidFill>
          <a:ln>
            <a:noFill/>
          </a:ln>
        </p:spPr>
      </p:sp>
      <p:sp>
        <p:nvSpPr>
          <p:cNvPr id="3" name="ellipse3"/>
          <p:cNvSpPr/>
          <p:nvPr/>
        </p:nvSpPr>
        <p:spPr>
          <a:xfrm>
            <a:off x="10497312" y="5285232"/>
            <a:ext cx="2359152" cy="1874520"/>
          </a:xfrm>
          <a:prstGeom prst="ellipse">
            <a:avLst/>
          </a:prstGeom>
          <a:solidFill>
            <a:srgbClr val="FFF1C8"/>
          </a:solidFill>
          <a:ln>
            <a:noFill/>
          </a:ln>
        </p:spPr>
      </p:sp>
      <p:sp>
        <p:nvSpPr>
          <p:cNvPr id="4" name="rect4"/>
          <p:cNvSpPr/>
          <p:nvPr/>
        </p:nvSpPr>
        <p:spPr>
          <a:xfrm rot="-540000">
            <a:off x="-685800" y="5989320"/>
            <a:ext cx="3611880" cy="109728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" name="rect5"/>
          <p:cNvSpPr/>
          <p:nvPr/>
        </p:nvSpPr>
        <p:spPr>
          <a:xfrm rot="-1080000">
            <a:off x="10698480" y="868680"/>
            <a:ext cx="1417320" cy="82296"/>
          </a:xfrm>
          <a:prstGeom prst="rect">
            <a:avLst/>
          </a:prstGeom>
          <a:solidFill>
            <a:srgbClr val="00A6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094976" y="13716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rgbClr val="B8D7C0"/>
                </a:solidFill>
                <a:latin typeface="Tahoma"/>
                <a:ea typeface="Tahoma"/>
                <a:cs typeface="Tahoma"/>
              </a:rPr>
              <a:t>SCI</a:t>
            </a:r>
            <a:endParaRPr lang="th-TH" sz="1600"/>
          </a:p>
        </p:txBody>
      </p:sp>
      <p:sp>
        <p:nvSpPr>
          <p:cNvPr id="7" name="rect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8" name="rect8"/>
          <p:cNvSpPr/>
          <p:nvPr/>
        </p:nvSpPr>
        <p:spPr>
          <a:xfrm>
            <a:off x="0" y="164592"/>
            <a:ext cx="1965960" cy="50292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0352" y="3474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1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Science AI Dashboard</a:t>
            </a:r>
            <a:endParaRPr lang="th-TH" sz="1100"/>
          </a:p>
        </p:txBody>
      </p:sp>
      <p:sp>
        <p:nvSpPr>
          <p:cNvPr id="10" name="TextBox 10"/>
          <p:cNvSpPr txBox="1"/>
          <p:nvPr/>
        </p:nvSpPr>
        <p:spPr>
          <a:xfrm>
            <a:off x="530352" y="658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ปัญหาที่พบและเหตุผลที่พัฒนา</a:t>
            </a:r>
            <a:endParaRPr lang="th-TH" sz="2700"/>
          </a:p>
        </p:txBody>
      </p:sp>
      <p:sp>
        <p:nvSpPr>
          <p:cNvPr id="11" name="roundRect11"/>
          <p:cNvSpPr/>
          <p:nvPr/>
        </p:nvSpPr>
        <p:spPr>
          <a:xfrm>
            <a:off x="713232" y="1572768"/>
            <a:ext cx="3337560" cy="3566160"/>
          </a:xfrm>
          <a:prstGeom prst="roundRect">
            <a:avLst/>
          </a:prstGeom>
          <a:solidFill>
            <a:srgbClr val="E7F4EA"/>
          </a:solidFill>
          <a:ln w="12700">
            <a:solidFill>
              <a:srgbClr val="D7E2DA"/>
            </a:solidFill>
          </a:ln>
        </p:spPr>
      </p:sp>
      <p:sp>
        <p:nvSpPr>
          <p:cNvPr id="12" name="rect12"/>
          <p:cNvSpPr/>
          <p:nvPr/>
        </p:nvSpPr>
        <p:spPr>
          <a:xfrm>
            <a:off x="713232" y="1572768"/>
            <a:ext cx="73152" cy="3566160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41832" y="175564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01 ข้อมูลกระจัดกระจาย</a:t>
            </a:r>
            <a:endParaRPr lang="th-TH" sz="1200"/>
          </a:p>
        </p:txBody>
      </p:sp>
      <p:sp>
        <p:nvSpPr>
          <p:cNvPr id="14" name="TextBox 14"/>
          <p:cNvSpPr txBox="1"/>
          <p:nvPr/>
        </p:nvSpPr>
        <p:spPr>
          <a:xfrm>
            <a:off x="941832" y="2103120"/>
            <a:ext cx="2926080" cy="2926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8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ข้อมูลนักศึกษา บุคลากร งบประมาณ งานวิจัย และยุทธศาสตร์อยู่คนละระบบ ทำให้มองภาพรวมยาก</a:t>
            </a:r>
            <a:endParaRPr lang="th-TH" sz="1800"/>
          </a:p>
        </p:txBody>
      </p:sp>
      <p:sp>
        <p:nvSpPr>
          <p:cNvPr id="15" name="roundRect15"/>
          <p:cNvSpPr/>
          <p:nvPr/>
        </p:nvSpPr>
        <p:spPr>
          <a:xfrm>
            <a:off x="4425696" y="1572768"/>
            <a:ext cx="3337560" cy="356616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D7E2DA"/>
            </a:solidFill>
          </a:ln>
        </p:spPr>
      </p:sp>
      <p:sp>
        <p:nvSpPr>
          <p:cNvPr id="16" name="rect16"/>
          <p:cNvSpPr/>
          <p:nvPr/>
        </p:nvSpPr>
        <p:spPr>
          <a:xfrm>
            <a:off x="4425696" y="1572768"/>
            <a:ext cx="73152" cy="3566160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654296" y="175564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02 วิเคราะห์ช้า</a:t>
            </a:r>
            <a:endParaRPr lang="th-TH" sz="1200"/>
          </a:p>
        </p:txBody>
      </p:sp>
      <p:sp>
        <p:nvSpPr>
          <p:cNvPr id="18" name="TextBox 18"/>
          <p:cNvSpPr txBox="1"/>
          <p:nvPr/>
        </p:nvSpPr>
        <p:spPr>
          <a:xfrm>
            <a:off x="4654296" y="2103120"/>
            <a:ext cx="2926080" cy="2926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8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ผู้บริหารต้องใช้เวลารวบรวม สรุป และแปลงข้อมูลเป็นกราฟก่อนตัดสินใจ</a:t>
            </a:r>
            <a:endParaRPr lang="th-TH" sz="1800"/>
          </a:p>
        </p:txBody>
      </p:sp>
      <p:sp>
        <p:nvSpPr>
          <p:cNvPr id="19" name="roundRect19"/>
          <p:cNvSpPr/>
          <p:nvPr/>
        </p:nvSpPr>
        <p:spPr>
          <a:xfrm>
            <a:off x="8138160" y="1572768"/>
            <a:ext cx="3337560" cy="356616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D7E2DA"/>
            </a:solidFill>
          </a:ln>
        </p:spPr>
      </p:sp>
      <p:sp>
        <p:nvSpPr>
          <p:cNvPr id="20" name="rect20"/>
          <p:cNvSpPr/>
          <p:nvPr/>
        </p:nvSpPr>
        <p:spPr>
          <a:xfrm>
            <a:off x="8138160" y="1572768"/>
            <a:ext cx="73152" cy="3566160"/>
          </a:xfrm>
          <a:prstGeom prst="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366760" y="175564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03 ต้องการ AI ช่วยถามตอบ</a:t>
            </a:r>
            <a:endParaRPr lang="th-TH" sz="1200"/>
          </a:p>
        </p:txBody>
      </p:sp>
      <p:sp>
        <p:nvSpPr>
          <p:cNvPr id="22" name="TextBox 22"/>
          <p:cNvSpPr txBox="1"/>
          <p:nvPr/>
        </p:nvSpPr>
        <p:spPr>
          <a:xfrm>
            <a:off x="8366760" y="2103120"/>
            <a:ext cx="2926080" cy="2926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8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การค้นข้อมูลด้วยภาษาธรรมชาติและการสร้างกราฟอัตโนมัติช่วยลดขั้นตอนการใช้งาน</a:t>
            </a:r>
            <a:endParaRPr lang="th-TH" sz="1800"/>
          </a:p>
        </p:txBody>
      </p:sp>
      <p:sp>
        <p:nvSpPr>
          <p:cNvPr id="23" name="TextBox 23"/>
          <p:cNvSpPr txBox="1"/>
          <p:nvPr/>
        </p:nvSpPr>
        <p:spPr>
          <a:xfrm>
            <a:off x="914400" y="5650992"/>
            <a:ext cx="103327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แนวคิดหลัก: รวมข้อมูลสำคัญไว้ใน Dashboard เดียว แล้วให้ AI ช่วยแปลคำถามเป็น insight และกราฟ</a:t>
            </a:r>
            <a:endParaRPr lang="th-TH" sz="1600"/>
          </a:p>
        </p:txBody>
      </p:sp>
      <p:sp>
        <p:nvSpPr>
          <p:cNvPr id="24" name="rect24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02920" y="6519672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88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Science AI Dashboard | Final Project Presentation</a:t>
            </a:r>
            <a:endParaRPr lang="th-TH" sz="880"/>
          </a:p>
        </p:txBody>
      </p:sp>
      <p:sp>
        <p:nvSpPr>
          <p:cNvPr id="26" name="TextBox 26"/>
          <p:cNvSpPr txBox="1"/>
          <p:nvPr/>
        </p:nvSpPr>
        <p:spPr>
          <a:xfrm>
            <a:off x="10972800" y="649224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th-TH" sz="95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02</a:t>
            </a:r>
            <a:endParaRPr lang="th-TH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9646920" y="-777240"/>
            <a:ext cx="2971800" cy="1874520"/>
          </a:xfrm>
          <a:prstGeom prst="ellipse">
            <a:avLst/>
          </a:prstGeom>
          <a:solidFill>
            <a:srgbClr val="E4F3E8"/>
          </a:solidFill>
          <a:ln>
            <a:noFill/>
          </a:ln>
        </p:spPr>
      </p:sp>
      <p:sp>
        <p:nvSpPr>
          <p:cNvPr id="3" name="ellipse3"/>
          <p:cNvSpPr/>
          <p:nvPr/>
        </p:nvSpPr>
        <p:spPr>
          <a:xfrm>
            <a:off x="10497312" y="5285232"/>
            <a:ext cx="2359152" cy="1874520"/>
          </a:xfrm>
          <a:prstGeom prst="ellipse">
            <a:avLst/>
          </a:prstGeom>
          <a:solidFill>
            <a:srgbClr val="FFF1C8"/>
          </a:solidFill>
          <a:ln>
            <a:noFill/>
          </a:ln>
        </p:spPr>
      </p:sp>
      <p:sp>
        <p:nvSpPr>
          <p:cNvPr id="4" name="rect4"/>
          <p:cNvSpPr/>
          <p:nvPr/>
        </p:nvSpPr>
        <p:spPr>
          <a:xfrm rot="-540000">
            <a:off x="-685800" y="5989320"/>
            <a:ext cx="3611880" cy="109728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" name="rect5"/>
          <p:cNvSpPr/>
          <p:nvPr/>
        </p:nvSpPr>
        <p:spPr>
          <a:xfrm rot="-1080000">
            <a:off x="10698480" y="868680"/>
            <a:ext cx="1417320" cy="82296"/>
          </a:xfrm>
          <a:prstGeom prst="rect">
            <a:avLst/>
          </a:prstGeom>
          <a:solidFill>
            <a:srgbClr val="00A6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094976" y="13716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rgbClr val="B8D7C0"/>
                </a:solidFill>
                <a:latin typeface="Tahoma"/>
                <a:ea typeface="Tahoma"/>
                <a:cs typeface="Tahoma"/>
              </a:rPr>
              <a:t>SCI</a:t>
            </a:r>
            <a:endParaRPr lang="th-TH" sz="1600"/>
          </a:p>
        </p:txBody>
      </p:sp>
      <p:sp>
        <p:nvSpPr>
          <p:cNvPr id="7" name="rect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8" name="rect8"/>
          <p:cNvSpPr/>
          <p:nvPr/>
        </p:nvSpPr>
        <p:spPr>
          <a:xfrm>
            <a:off x="0" y="164592"/>
            <a:ext cx="1965960" cy="50292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0352" y="3474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1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Science AI Dashboard</a:t>
            </a:r>
            <a:endParaRPr lang="th-TH" sz="1100"/>
          </a:p>
        </p:txBody>
      </p:sp>
      <p:sp>
        <p:nvSpPr>
          <p:cNvPr id="10" name="TextBox 10"/>
          <p:cNvSpPr txBox="1"/>
          <p:nvPr/>
        </p:nvSpPr>
        <p:spPr>
          <a:xfrm>
            <a:off x="530352" y="658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วัตถุประสงค์ของโครงงาน</a:t>
            </a:r>
            <a:endParaRPr lang="th-TH" sz="2700"/>
          </a:p>
        </p:txBody>
      </p:sp>
      <p:sp>
        <p:nvSpPr>
          <p:cNvPr id="11" name="Bullet List 11"/>
          <p:cNvSpPr txBox="1"/>
          <p:nvPr/>
        </p:nvSpPr>
        <p:spPr>
          <a:xfrm>
            <a:off x="868680" y="1572768"/>
            <a:ext cx="6217920" cy="2926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19456" indent="-128016">
              <a:buFont typeface="Tahoma"/>
              <a:buChar char="•"/>
            </a:pPr>
            <a:r>
              <a:rPr lang="th-TH" sz="170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พัฒนา Web Application สำหรับรวบรวมและแสดงข้อมูลสำคัญของคณะวิทยาศาสตร์</a:t>
            </a:r>
            <a:endParaRPr lang="th-TH" sz="1700"/>
          </a:p>
          <a:p>
            <a:pPr marL="219456" indent="-128016">
              <a:buFont typeface="Tahoma"/>
              <a:buChar char="•"/>
            </a:pPr>
            <a:r>
              <a:rPr lang="th-TH" sz="170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สร้าง AI Chatbot ที่ถามตอบ สร้างกราฟ และพยากรณ์แนวโน้มจากข้อมูลในระบบได้</a:t>
            </a:r>
            <a:endParaRPr lang="th-TH" sz="1700"/>
          </a:p>
          <a:p>
            <a:pPr marL="219456" indent="-128016">
              <a:buFont typeface="Tahoma"/>
              <a:buChar char="•"/>
            </a:pPr>
            <a:r>
              <a:rPr lang="th-TH" sz="170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ออกแบบ Interactive Data Visualization ที่ค้นหา กรอง และส่งออกข้อมูลได้</a:t>
            </a:r>
            <a:endParaRPr lang="th-TH" sz="1700"/>
          </a:p>
          <a:p>
            <a:pPr marL="219456" indent="-128016">
              <a:buFont typeface="Tahoma"/>
              <a:buChar char="•"/>
            </a:pPr>
            <a:r>
              <a:rPr lang="th-TH" sz="170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พัฒนาระบบสิทธิ์ผู้ใช้แบบ Role-Based Access Control</a:t>
            </a:r>
            <a:endParaRPr lang="th-TH" sz="1700"/>
          </a:p>
          <a:p>
            <a:pPr marL="219456" indent="-128016">
              <a:buFont typeface="Tahoma"/>
              <a:buChar char="•"/>
            </a:pPr>
            <a:r>
              <a:rPr lang="th-TH" sz="170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รองรับการใช้งานบน Desktop, Tablet และ Mobile</a:t>
            </a:r>
            <a:endParaRPr lang="th-TH" sz="1700"/>
          </a:p>
        </p:txBody>
      </p:sp>
      <p:sp>
        <p:nvSpPr>
          <p:cNvPr id="12" name="roundRect12"/>
          <p:cNvSpPr/>
          <p:nvPr/>
        </p:nvSpPr>
        <p:spPr>
          <a:xfrm>
            <a:off x="7543800" y="1444752"/>
            <a:ext cx="3611880" cy="3163824"/>
          </a:xfrm>
          <a:prstGeom prst="roundRect">
            <a:avLst/>
          </a:prstGeom>
          <a:solidFill>
            <a:srgbClr val="0B1F1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882128" y="17373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800" b="1" dirty="0">
                <a:solidFill>
                  <a:srgbClr val="C5A028"/>
                </a:solidFill>
                <a:latin typeface="Tahoma"/>
                <a:ea typeface="Tahoma"/>
                <a:cs typeface="Tahoma"/>
              </a:rPr>
              <a:t>เกณฑ์สำเร็จ</a:t>
            </a:r>
            <a:endParaRPr lang="th-TH" sz="1800"/>
          </a:p>
        </p:txBody>
      </p:sp>
      <p:sp>
        <p:nvSpPr>
          <p:cNvPr id="14" name="TextBox 14"/>
          <p:cNvSpPr txBox="1"/>
          <p:nvPr/>
        </p:nvSpPr>
        <p:spPr>
          <a:xfrm>
            <a:off x="7882128" y="2249424"/>
            <a:ext cx="2907792" cy="1691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50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ระบบต้องใช้งานจริงในรูปแบบต้นแบบได้</a:t>
            </a:r>
            <a:endParaRPr lang="th-TH" sz="1500"/>
          </a:p>
          <a:p>
            <a:pPr/>
            <a:r>
              <a:rPr lang="th-TH" sz="150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แสดงข้อมูล 6 หมวดหลักได้ครบ</a:t>
            </a:r>
            <a:endParaRPr lang="th-TH" sz="1500"/>
          </a:p>
          <a:p>
            <a:pPr/>
            <a:r>
              <a:rPr lang="th-TH" sz="150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AI ต้องตอบเป็นภาษาไทยและสร้างกราฟได้</a:t>
            </a:r>
            <a:endParaRPr lang="th-TH" sz="1500"/>
          </a:p>
          <a:p>
            <a:pPr/>
            <a:r>
              <a:rPr lang="th-TH" sz="150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ผู้ใช้แต่ละบทบาทเห็นข้อมูลตามสิทธิ์</a:t>
            </a:r>
            <a:endParaRPr lang="th-TH" sz="1500"/>
          </a:p>
        </p:txBody>
      </p:sp>
      <p:sp>
        <p:nvSpPr>
          <p:cNvPr id="15" name="TextBox 15"/>
          <p:cNvSpPr txBox="1"/>
          <p:nvPr/>
        </p:nvSpPr>
        <p:spPr>
          <a:xfrm>
            <a:off x="868680" y="5138928"/>
            <a:ext cx="10241280" cy="493776"/>
          </a:xfrm>
          <a:prstGeom prst="roundRect">
            <a:avLst/>
          </a:prstGeom>
          <a:solidFill>
            <a:srgbClr val="006838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7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ผลลัพธ์ที่ต้องการคือเครื่องมือช่วยตัดสินใจ ไม่ใช่เพียงหน้าแสดงตัวเลข</a:t>
            </a:r>
            <a:endParaRPr lang="th-TH" sz="1700"/>
          </a:p>
        </p:txBody>
      </p:sp>
      <p:sp>
        <p:nvSpPr>
          <p:cNvPr id="16" name="rect16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02920" y="6519672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88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Science AI Dashboard | Final Project Presentation</a:t>
            </a:r>
            <a:endParaRPr lang="th-TH" sz="880"/>
          </a:p>
        </p:txBody>
      </p:sp>
      <p:sp>
        <p:nvSpPr>
          <p:cNvPr id="18" name="TextBox 18"/>
          <p:cNvSpPr txBox="1"/>
          <p:nvPr/>
        </p:nvSpPr>
        <p:spPr>
          <a:xfrm>
            <a:off x="10972800" y="649224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th-TH" sz="95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03</a:t>
            </a:r>
            <a:endParaRPr lang="th-TH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9646920" y="-777240"/>
            <a:ext cx="2971800" cy="1874520"/>
          </a:xfrm>
          <a:prstGeom prst="ellipse">
            <a:avLst/>
          </a:prstGeom>
          <a:solidFill>
            <a:srgbClr val="E4F3E8"/>
          </a:solidFill>
          <a:ln>
            <a:noFill/>
          </a:ln>
        </p:spPr>
      </p:sp>
      <p:sp>
        <p:nvSpPr>
          <p:cNvPr id="3" name="ellipse3"/>
          <p:cNvSpPr/>
          <p:nvPr/>
        </p:nvSpPr>
        <p:spPr>
          <a:xfrm>
            <a:off x="10497312" y="5285232"/>
            <a:ext cx="2359152" cy="1874520"/>
          </a:xfrm>
          <a:prstGeom prst="ellipse">
            <a:avLst/>
          </a:prstGeom>
          <a:solidFill>
            <a:srgbClr val="FFF1C8"/>
          </a:solidFill>
          <a:ln>
            <a:noFill/>
          </a:ln>
        </p:spPr>
      </p:sp>
      <p:sp>
        <p:nvSpPr>
          <p:cNvPr id="4" name="rect4"/>
          <p:cNvSpPr/>
          <p:nvPr/>
        </p:nvSpPr>
        <p:spPr>
          <a:xfrm rot="-540000">
            <a:off x="-685800" y="5989320"/>
            <a:ext cx="3611880" cy="109728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" name="rect5"/>
          <p:cNvSpPr/>
          <p:nvPr/>
        </p:nvSpPr>
        <p:spPr>
          <a:xfrm rot="-1080000">
            <a:off x="10698480" y="868680"/>
            <a:ext cx="1417320" cy="82296"/>
          </a:xfrm>
          <a:prstGeom prst="rect">
            <a:avLst/>
          </a:prstGeom>
          <a:solidFill>
            <a:srgbClr val="00A6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094976" y="13716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rgbClr val="B8D7C0"/>
                </a:solidFill>
                <a:latin typeface="Tahoma"/>
                <a:ea typeface="Tahoma"/>
                <a:cs typeface="Tahoma"/>
              </a:rPr>
              <a:t>SCI</a:t>
            </a:r>
            <a:endParaRPr lang="th-TH" sz="1600"/>
          </a:p>
        </p:txBody>
      </p:sp>
      <p:sp>
        <p:nvSpPr>
          <p:cNvPr id="7" name="rect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8" name="rect8"/>
          <p:cNvSpPr/>
          <p:nvPr/>
        </p:nvSpPr>
        <p:spPr>
          <a:xfrm>
            <a:off x="0" y="164592"/>
            <a:ext cx="1965960" cy="50292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0352" y="3474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1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Science AI Dashboard</a:t>
            </a:r>
            <a:endParaRPr lang="th-TH" sz="1100"/>
          </a:p>
        </p:txBody>
      </p:sp>
      <p:sp>
        <p:nvSpPr>
          <p:cNvPr id="10" name="TextBox 10"/>
          <p:cNvSpPr txBox="1"/>
          <p:nvPr/>
        </p:nvSpPr>
        <p:spPr>
          <a:xfrm>
            <a:off x="530352" y="658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ขอบเขตระบบและกลุ่มผู้ใช้</a:t>
            </a:r>
            <a:endParaRPr lang="th-TH" sz="2700"/>
          </a:p>
        </p:txBody>
      </p:sp>
      <p:sp>
        <p:nvSpPr>
          <p:cNvPr id="11" name="TextBox 11"/>
          <p:cNvSpPr txBox="1"/>
          <p:nvPr/>
        </p:nvSpPr>
        <p:spPr>
          <a:xfrm>
            <a:off x="731520" y="138988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7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ขอบเขตข้อมูล 6 หมวดหลัก</a:t>
            </a:r>
            <a:endParaRPr lang="th-TH" sz="1700"/>
          </a:p>
        </p:txBody>
      </p:sp>
      <p:sp>
        <p:nvSpPr>
          <p:cNvPr id="12" name="roundRect12"/>
          <p:cNvSpPr/>
          <p:nvPr/>
        </p:nvSpPr>
        <p:spPr>
          <a:xfrm>
            <a:off x="804672" y="1874520"/>
            <a:ext cx="3063240" cy="621792"/>
          </a:xfrm>
          <a:prstGeom prst="roundRect">
            <a:avLst/>
          </a:prstGeom>
          <a:solidFill>
            <a:srgbClr val="E7F4EA"/>
          </a:solidFill>
          <a:ln w="12700">
            <a:solidFill>
              <a:srgbClr val="006838"/>
            </a:solidFill>
          </a:ln>
        </p:spPr>
      </p:sp>
      <p:sp>
        <p:nvSpPr>
          <p:cNvPr id="13" name="ellipse13"/>
          <p:cNvSpPr/>
          <p:nvPr/>
        </p:nvSpPr>
        <p:spPr>
          <a:xfrm>
            <a:off x="960120" y="2039112"/>
            <a:ext cx="292608" cy="292608"/>
          </a:xfrm>
          <a:prstGeom prst="ellipse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371600" y="2048256"/>
            <a:ext cx="23865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2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บุคลากร (HR)</a:t>
            </a:r>
            <a:endParaRPr lang="th-TH" sz="1200"/>
          </a:p>
        </p:txBody>
      </p:sp>
      <p:sp>
        <p:nvSpPr>
          <p:cNvPr id="15" name="roundRect15"/>
          <p:cNvSpPr/>
          <p:nvPr/>
        </p:nvSpPr>
        <p:spPr>
          <a:xfrm>
            <a:off x="804672" y="2651760"/>
            <a:ext cx="3063240" cy="621792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7B68EE"/>
            </a:solidFill>
          </a:ln>
        </p:spPr>
      </p:sp>
      <p:sp>
        <p:nvSpPr>
          <p:cNvPr id="16" name="ellipse16"/>
          <p:cNvSpPr/>
          <p:nvPr/>
        </p:nvSpPr>
        <p:spPr>
          <a:xfrm>
            <a:off x="960120" y="2816352"/>
            <a:ext cx="292608" cy="292608"/>
          </a:xfrm>
          <a:prstGeom prst="ellipse">
            <a:avLst/>
          </a:prstGeom>
          <a:solidFill>
            <a:srgbClr val="7B68E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371600" y="2825496"/>
            <a:ext cx="23865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2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นักศึกษา (Student)</a:t>
            </a:r>
            <a:endParaRPr lang="th-TH" sz="1200"/>
          </a:p>
        </p:txBody>
      </p:sp>
      <p:sp>
        <p:nvSpPr>
          <p:cNvPr id="18" name="roundRect18"/>
          <p:cNvSpPr/>
          <p:nvPr/>
        </p:nvSpPr>
        <p:spPr>
          <a:xfrm>
            <a:off x="804672" y="3429000"/>
            <a:ext cx="3063240" cy="62179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2E86AB"/>
            </a:solidFill>
          </a:ln>
        </p:spPr>
      </p:sp>
      <p:sp>
        <p:nvSpPr>
          <p:cNvPr id="19" name="ellipse19"/>
          <p:cNvSpPr/>
          <p:nvPr/>
        </p:nvSpPr>
        <p:spPr>
          <a:xfrm>
            <a:off x="960120" y="3593592"/>
            <a:ext cx="292608" cy="29260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371600" y="3602736"/>
            <a:ext cx="23865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2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งานวิจัย (Research)</a:t>
            </a:r>
            <a:endParaRPr lang="th-TH" sz="1200"/>
          </a:p>
        </p:txBody>
      </p:sp>
      <p:sp>
        <p:nvSpPr>
          <p:cNvPr id="21" name="roundRect21"/>
          <p:cNvSpPr/>
          <p:nvPr/>
        </p:nvSpPr>
        <p:spPr>
          <a:xfrm>
            <a:off x="804672" y="4206240"/>
            <a:ext cx="3063240" cy="621792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C5A028"/>
            </a:solidFill>
          </a:ln>
        </p:spPr>
      </p:sp>
      <p:sp>
        <p:nvSpPr>
          <p:cNvPr id="22" name="ellipse22"/>
          <p:cNvSpPr/>
          <p:nvPr/>
        </p:nvSpPr>
        <p:spPr>
          <a:xfrm>
            <a:off x="960120" y="4370832"/>
            <a:ext cx="292608" cy="292608"/>
          </a:xfrm>
          <a:prstGeom prst="ellipse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371600" y="4379976"/>
            <a:ext cx="23865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2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การเงิน (Finance)</a:t>
            </a:r>
            <a:endParaRPr lang="th-TH" sz="1200"/>
          </a:p>
        </p:txBody>
      </p:sp>
      <p:sp>
        <p:nvSpPr>
          <p:cNvPr id="24" name="roundRect24"/>
          <p:cNvSpPr/>
          <p:nvPr/>
        </p:nvSpPr>
        <p:spPr>
          <a:xfrm>
            <a:off x="804672" y="4983480"/>
            <a:ext cx="3063240" cy="621792"/>
          </a:xfrm>
          <a:prstGeom prst="roundRect">
            <a:avLst/>
          </a:prstGeom>
          <a:solidFill>
            <a:srgbClr val="F7E7F0"/>
          </a:solidFill>
          <a:ln w="12700">
            <a:solidFill>
              <a:srgbClr val="A23B72"/>
            </a:solidFill>
          </a:ln>
        </p:spPr>
      </p:sp>
      <p:sp>
        <p:nvSpPr>
          <p:cNvPr id="25" name="ellipse25"/>
          <p:cNvSpPr/>
          <p:nvPr/>
        </p:nvSpPr>
        <p:spPr>
          <a:xfrm>
            <a:off x="960120" y="5148072"/>
            <a:ext cx="292608" cy="292608"/>
          </a:xfrm>
          <a:prstGeom prst="ellipse">
            <a:avLst/>
          </a:prstGeom>
          <a:solidFill>
            <a:srgbClr val="A23B7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371600" y="5157216"/>
            <a:ext cx="23865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2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ยุทธศาสตร์ (OKR)</a:t>
            </a:r>
            <a:endParaRPr lang="th-TH" sz="1200"/>
          </a:p>
        </p:txBody>
      </p:sp>
      <p:sp>
        <p:nvSpPr>
          <p:cNvPr id="27" name="roundRect27"/>
          <p:cNvSpPr/>
          <p:nvPr/>
        </p:nvSpPr>
        <p:spPr>
          <a:xfrm>
            <a:off x="804672" y="5760720"/>
            <a:ext cx="3063240" cy="621792"/>
          </a:xfrm>
          <a:prstGeom prst="roundRect">
            <a:avLst/>
          </a:prstGeom>
          <a:solidFill>
            <a:srgbClr val="FFF0DA"/>
          </a:solidFill>
          <a:ln w="12700">
            <a:solidFill>
              <a:srgbClr val="F18F01"/>
            </a:solidFill>
          </a:ln>
        </p:spPr>
      </p:sp>
      <p:sp>
        <p:nvSpPr>
          <p:cNvPr id="28" name="ellipse28"/>
          <p:cNvSpPr/>
          <p:nvPr/>
        </p:nvSpPr>
        <p:spPr>
          <a:xfrm>
            <a:off x="960120" y="5925312"/>
            <a:ext cx="292608" cy="292608"/>
          </a:xfrm>
          <a:prstGeom prst="ellipse">
            <a:avLst/>
          </a:prstGeom>
          <a:solidFill>
            <a:srgbClr val="F18F0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371600" y="5934456"/>
            <a:ext cx="23865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2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AI Chatbot</a:t>
            </a:r>
            <a:endParaRPr lang="th-TH" sz="1200"/>
          </a:p>
        </p:txBody>
      </p:sp>
      <p:sp>
        <p:nvSpPr>
          <p:cNvPr id="30" name="TextBox 30"/>
          <p:cNvSpPr txBox="1"/>
          <p:nvPr/>
        </p:nvSpPr>
        <p:spPr>
          <a:xfrm>
            <a:off x="4736592" y="1389888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7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กลุ่มผู้ใช้</a:t>
            </a:r>
            <a:endParaRPr lang="th-TH" sz="1700"/>
          </a:p>
        </p:txBody>
      </p:sp>
      <p:sp>
        <p:nvSpPr>
          <p:cNvPr id="31" name="roundRect31"/>
          <p:cNvSpPr/>
          <p:nvPr/>
        </p:nvSpPr>
        <p:spPr>
          <a:xfrm>
            <a:off x="4718304" y="1865376"/>
            <a:ext cx="4526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</p:sp>
      <p:sp>
        <p:nvSpPr>
          <p:cNvPr id="32" name="rect32"/>
          <p:cNvSpPr/>
          <p:nvPr/>
        </p:nvSpPr>
        <p:spPr>
          <a:xfrm>
            <a:off x="4718304" y="1865376"/>
            <a:ext cx="4526280" cy="475488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791456" y="1965960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Role</a:t>
            </a:r>
            <a:endParaRPr lang="th-TH" sz="950"/>
          </a:p>
        </p:txBody>
      </p:sp>
      <p:sp>
        <p:nvSpPr>
          <p:cNvPr id="34" name="TextBox 34"/>
          <p:cNvSpPr txBox="1"/>
          <p:nvPr/>
        </p:nvSpPr>
        <p:spPr>
          <a:xfrm>
            <a:off x="6025896" y="1965960"/>
            <a:ext cx="3145536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การใช้งานหลัก</a:t>
            </a:r>
            <a:endParaRPr lang="th-TH" sz="950"/>
          </a:p>
        </p:txBody>
      </p:sp>
      <p:sp>
        <p:nvSpPr>
          <p:cNvPr id="35" name="rect35"/>
          <p:cNvSpPr/>
          <p:nvPr/>
        </p:nvSpPr>
        <p:spPr>
          <a:xfrm>
            <a:off x="4718304" y="2340864"/>
            <a:ext cx="452628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791456" y="2450592"/>
            <a:ext cx="10881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2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Dean</a:t>
            </a:r>
            <a:endParaRPr lang="th-TH" sz="920"/>
          </a:p>
        </p:txBody>
      </p:sp>
      <p:sp>
        <p:nvSpPr>
          <p:cNvPr id="37" name="TextBox 37"/>
          <p:cNvSpPr txBox="1"/>
          <p:nvPr/>
        </p:nvSpPr>
        <p:spPr>
          <a:xfrm>
            <a:off x="6025896" y="2450592"/>
            <a:ext cx="31455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ดูภาพรวมทุกหมวด / ยุทธศาสตร์ / Admin</a:t>
            </a:r>
            <a:endParaRPr lang="th-TH" sz="920"/>
          </a:p>
        </p:txBody>
      </p:sp>
      <p:sp>
        <p:nvSpPr>
          <p:cNvPr id="38" name="rect38"/>
          <p:cNvSpPr/>
          <p:nvPr/>
        </p:nvSpPr>
        <p:spPr>
          <a:xfrm>
            <a:off x="4718304" y="2907792"/>
            <a:ext cx="4526280" cy="566928"/>
          </a:xfrm>
          <a:prstGeom prst="rect">
            <a:avLst/>
          </a:prstGeom>
          <a:solidFill>
            <a:srgbClr val="EEF6EF"/>
          </a:solidFill>
          <a:ln>
            <a:noFill/>
          </a:ln>
        </p:spPr>
      </p:sp>
      <p:sp>
        <p:nvSpPr>
          <p:cNvPr id="39" name="rect39"/>
          <p:cNvSpPr/>
          <p:nvPr/>
        </p:nvSpPr>
        <p:spPr>
          <a:xfrm>
            <a:off x="4718304" y="2907792"/>
            <a:ext cx="452628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791456" y="3017520"/>
            <a:ext cx="10881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2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Chair</a:t>
            </a:r>
            <a:endParaRPr lang="th-TH" sz="920"/>
          </a:p>
        </p:txBody>
      </p:sp>
      <p:sp>
        <p:nvSpPr>
          <p:cNvPr id="41" name="TextBox 41"/>
          <p:cNvSpPr txBox="1"/>
          <p:nvPr/>
        </p:nvSpPr>
        <p:spPr>
          <a:xfrm>
            <a:off x="6025896" y="3017520"/>
            <a:ext cx="31455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ดูข้อมูลหลักสูตร รายงาน และ AI</a:t>
            </a:r>
            <a:endParaRPr lang="th-TH" sz="920"/>
          </a:p>
        </p:txBody>
      </p:sp>
      <p:sp>
        <p:nvSpPr>
          <p:cNvPr id="42" name="rect42"/>
          <p:cNvSpPr/>
          <p:nvPr/>
        </p:nvSpPr>
        <p:spPr>
          <a:xfrm>
            <a:off x="4718304" y="3474720"/>
            <a:ext cx="452628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791456" y="3584448"/>
            <a:ext cx="10881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2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Staff</a:t>
            </a:r>
            <a:endParaRPr lang="th-TH" sz="920"/>
          </a:p>
        </p:txBody>
      </p:sp>
      <p:sp>
        <p:nvSpPr>
          <p:cNvPr id="44" name="TextBox 44"/>
          <p:cNvSpPr txBox="1"/>
          <p:nvPr/>
        </p:nvSpPr>
        <p:spPr>
          <a:xfrm>
            <a:off x="6025896" y="3584448"/>
            <a:ext cx="31455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ดูข้อมูลปฏิบัติการและรายงาน</a:t>
            </a:r>
            <a:endParaRPr lang="th-TH" sz="920"/>
          </a:p>
        </p:txBody>
      </p:sp>
      <p:sp>
        <p:nvSpPr>
          <p:cNvPr id="45" name="rect45"/>
          <p:cNvSpPr/>
          <p:nvPr/>
        </p:nvSpPr>
        <p:spPr>
          <a:xfrm>
            <a:off x="4718304" y="4041648"/>
            <a:ext cx="4526280" cy="566928"/>
          </a:xfrm>
          <a:prstGeom prst="rect">
            <a:avLst/>
          </a:prstGeom>
          <a:solidFill>
            <a:srgbClr val="EEF6EF"/>
          </a:solidFill>
          <a:ln>
            <a:noFill/>
          </a:ln>
        </p:spPr>
      </p:sp>
      <p:sp>
        <p:nvSpPr>
          <p:cNvPr id="46" name="rect46"/>
          <p:cNvSpPr/>
          <p:nvPr/>
        </p:nvSpPr>
        <p:spPr>
          <a:xfrm>
            <a:off x="4718304" y="4041648"/>
            <a:ext cx="452628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791456" y="4151376"/>
            <a:ext cx="10881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2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Student</a:t>
            </a:r>
            <a:endParaRPr lang="th-TH" sz="920"/>
          </a:p>
        </p:txBody>
      </p:sp>
      <p:sp>
        <p:nvSpPr>
          <p:cNvPr id="48" name="TextBox 48"/>
          <p:cNvSpPr txBox="1"/>
          <p:nvPr/>
        </p:nvSpPr>
        <p:spPr>
          <a:xfrm>
            <a:off x="6025896" y="4151376"/>
            <a:ext cx="31455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ดูข้อมูลส่วนตัว/ทั่วไปตามสิทธิ์</a:t>
            </a:r>
            <a:endParaRPr lang="th-TH" sz="920"/>
          </a:p>
        </p:txBody>
      </p:sp>
      <p:sp>
        <p:nvSpPr>
          <p:cNvPr id="49" name="TextBox 49"/>
          <p:cNvSpPr txBox="1"/>
          <p:nvPr/>
        </p:nvSpPr>
        <p:spPr>
          <a:xfrm>
            <a:off x="8823960" y="138988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7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ข้อจำกัดสำคัญ</a:t>
            </a:r>
            <a:endParaRPr lang="th-TH" sz="1700"/>
          </a:p>
        </p:txBody>
      </p:sp>
      <p:sp>
        <p:nvSpPr>
          <p:cNvPr id="50" name="roundRect50"/>
          <p:cNvSpPr/>
          <p:nvPr/>
        </p:nvSpPr>
        <p:spPr>
          <a:xfrm>
            <a:off x="8613648" y="1865376"/>
            <a:ext cx="269748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</p:sp>
      <p:sp>
        <p:nvSpPr>
          <p:cNvPr id="51" name="rect51"/>
          <p:cNvSpPr/>
          <p:nvPr/>
        </p:nvSpPr>
        <p:spPr>
          <a:xfrm>
            <a:off x="8613648" y="1865376"/>
            <a:ext cx="73152" cy="1874520"/>
          </a:xfrm>
          <a:prstGeom prst="rect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842248" y="204825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Data Scope</a:t>
            </a:r>
            <a:endParaRPr lang="th-TH" sz="1200"/>
          </a:p>
        </p:txBody>
      </p:sp>
      <p:sp>
        <p:nvSpPr>
          <p:cNvPr id="53" name="TextBox 53"/>
          <p:cNvSpPr txBox="1"/>
          <p:nvPr/>
        </p:nvSpPr>
        <p:spPr>
          <a:xfrm>
            <a:off x="8842248" y="2395728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55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ใช้ข้อมูลจำลองและข้อมูลอ้างอิง เพื่อทำต้นแบบก่อนเชื่อมระบบจริง</a:t>
            </a:r>
            <a:endParaRPr lang="th-TH" sz="1550"/>
          </a:p>
        </p:txBody>
      </p:sp>
      <p:sp>
        <p:nvSpPr>
          <p:cNvPr id="54" name="roundRect54"/>
          <p:cNvSpPr/>
          <p:nvPr/>
        </p:nvSpPr>
        <p:spPr>
          <a:xfrm>
            <a:off x="8613648" y="3986784"/>
            <a:ext cx="26974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</p:sp>
      <p:sp>
        <p:nvSpPr>
          <p:cNvPr id="55" name="rect55"/>
          <p:cNvSpPr/>
          <p:nvPr/>
        </p:nvSpPr>
        <p:spPr>
          <a:xfrm>
            <a:off x="8613648" y="3986784"/>
            <a:ext cx="73152" cy="1572768"/>
          </a:xfrm>
          <a:prstGeom prst="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8842248" y="416966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Platform</a:t>
            </a:r>
            <a:endParaRPr lang="th-TH" sz="1200"/>
          </a:p>
        </p:txBody>
      </p:sp>
      <p:sp>
        <p:nvSpPr>
          <p:cNvPr id="57" name="TextBox 57"/>
          <p:cNvSpPr txBox="1"/>
          <p:nvPr/>
        </p:nvSpPr>
        <p:spPr>
          <a:xfrm>
            <a:off x="8842248" y="4517136"/>
            <a:ext cx="2286000" cy="9326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6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React SPA ทำงานบน Browser สมัยใหม่</a:t>
            </a:r>
            <a:endParaRPr lang="th-TH" sz="1600"/>
          </a:p>
        </p:txBody>
      </p:sp>
      <p:sp>
        <p:nvSpPr>
          <p:cNvPr id="58" name="rect58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502920" y="6519672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88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Science AI Dashboard | Final Project Presentation</a:t>
            </a:r>
            <a:endParaRPr lang="th-TH" sz="880"/>
          </a:p>
        </p:txBody>
      </p:sp>
      <p:sp>
        <p:nvSpPr>
          <p:cNvPr id="60" name="TextBox 60"/>
          <p:cNvSpPr txBox="1"/>
          <p:nvPr/>
        </p:nvSpPr>
        <p:spPr>
          <a:xfrm>
            <a:off x="10972800" y="649224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th-TH" sz="95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04</a:t>
            </a:r>
            <a:endParaRPr lang="th-TH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9646920" y="-777240"/>
            <a:ext cx="2971800" cy="1874520"/>
          </a:xfrm>
          <a:prstGeom prst="ellipse">
            <a:avLst/>
          </a:prstGeom>
          <a:solidFill>
            <a:srgbClr val="E4F3E8"/>
          </a:solidFill>
          <a:ln>
            <a:noFill/>
          </a:ln>
        </p:spPr>
      </p:sp>
      <p:sp>
        <p:nvSpPr>
          <p:cNvPr id="3" name="ellipse3"/>
          <p:cNvSpPr/>
          <p:nvPr/>
        </p:nvSpPr>
        <p:spPr>
          <a:xfrm>
            <a:off x="10497312" y="5285232"/>
            <a:ext cx="2359152" cy="1874520"/>
          </a:xfrm>
          <a:prstGeom prst="ellipse">
            <a:avLst/>
          </a:prstGeom>
          <a:solidFill>
            <a:srgbClr val="FFF1C8"/>
          </a:solidFill>
          <a:ln>
            <a:noFill/>
          </a:ln>
        </p:spPr>
      </p:sp>
      <p:sp>
        <p:nvSpPr>
          <p:cNvPr id="4" name="rect4"/>
          <p:cNvSpPr/>
          <p:nvPr/>
        </p:nvSpPr>
        <p:spPr>
          <a:xfrm rot="-540000">
            <a:off x="-685800" y="5989320"/>
            <a:ext cx="3611880" cy="109728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" name="rect5"/>
          <p:cNvSpPr/>
          <p:nvPr/>
        </p:nvSpPr>
        <p:spPr>
          <a:xfrm rot="-1080000">
            <a:off x="10698480" y="868680"/>
            <a:ext cx="1417320" cy="82296"/>
          </a:xfrm>
          <a:prstGeom prst="rect">
            <a:avLst/>
          </a:prstGeom>
          <a:solidFill>
            <a:srgbClr val="00A6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094976" y="13716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rgbClr val="B8D7C0"/>
                </a:solidFill>
                <a:latin typeface="Tahoma"/>
                <a:ea typeface="Tahoma"/>
                <a:cs typeface="Tahoma"/>
              </a:rPr>
              <a:t>SCI</a:t>
            </a:r>
            <a:endParaRPr lang="th-TH" sz="1600"/>
          </a:p>
        </p:txBody>
      </p:sp>
      <p:sp>
        <p:nvSpPr>
          <p:cNvPr id="7" name="rect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8" name="rect8"/>
          <p:cNvSpPr/>
          <p:nvPr/>
        </p:nvSpPr>
        <p:spPr>
          <a:xfrm>
            <a:off x="0" y="164592"/>
            <a:ext cx="1965960" cy="50292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0352" y="3474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1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Science AI Dashboard</a:t>
            </a:r>
            <a:endParaRPr lang="th-TH" sz="1100"/>
          </a:p>
        </p:txBody>
      </p:sp>
      <p:sp>
        <p:nvSpPr>
          <p:cNvPr id="10" name="TextBox 10"/>
          <p:cNvSpPr txBox="1"/>
          <p:nvPr/>
        </p:nvSpPr>
        <p:spPr>
          <a:xfrm>
            <a:off x="530352" y="658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ภาพรวมแนวทางแก้ปัญหา</a:t>
            </a:r>
            <a:endParaRPr lang="th-TH" sz="2700"/>
          </a:p>
        </p:txBody>
      </p:sp>
      <p:sp>
        <p:nvSpPr>
          <p:cNvPr id="11" name="ellipse11"/>
          <p:cNvSpPr/>
          <p:nvPr/>
        </p:nvSpPr>
        <p:spPr>
          <a:xfrm>
            <a:off x="4343400" y="1938528"/>
            <a:ext cx="3493008" cy="1700784"/>
          </a:xfrm>
          <a:prstGeom prst="ellipse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663440" y="2350008"/>
            <a:ext cx="2834640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24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Science AI</a:t>
            </a:r>
            <a:endParaRPr lang="th-TH" sz="2400"/>
          </a:p>
          <a:p>
            <a:pPr algn="ctr"/>
            <a:r>
              <a:rPr lang="th-TH" sz="24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Dashboard</a:t>
            </a:r>
            <a:endParaRPr lang="th-TH" sz="2400"/>
          </a:p>
        </p:txBody>
      </p:sp>
      <p:sp>
        <p:nvSpPr>
          <p:cNvPr id="13" name="roundRect13"/>
          <p:cNvSpPr/>
          <p:nvPr/>
        </p:nvSpPr>
        <p:spPr>
          <a:xfrm>
            <a:off x="914400" y="1481328"/>
            <a:ext cx="2377440" cy="749808"/>
          </a:xfrm>
          <a:prstGeom prst="roundRect">
            <a:avLst/>
          </a:prstGeom>
          <a:solidFill>
            <a:srgbClr val="E7F4EA"/>
          </a:solidFill>
          <a:ln w="12700">
            <a:solidFill>
              <a:srgbClr val="00683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05840" y="170992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5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HR</a:t>
            </a:r>
            <a:endParaRPr lang="th-TH" sz="1500"/>
          </a:p>
        </p:txBody>
      </p:sp>
      <p:sp>
        <p:nvSpPr>
          <p:cNvPr id="15" name="roundRect15"/>
          <p:cNvSpPr/>
          <p:nvPr/>
        </p:nvSpPr>
        <p:spPr>
          <a:xfrm>
            <a:off x="1234440" y="4343400"/>
            <a:ext cx="2377440" cy="749808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7B68EE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325880" y="457200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500" b="1" dirty="0">
                <a:solidFill>
                  <a:srgbClr val="7B68EE"/>
                </a:solidFill>
                <a:latin typeface="Tahoma"/>
                <a:ea typeface="Tahoma"/>
                <a:cs typeface="Tahoma"/>
              </a:rPr>
              <a:t>Student</a:t>
            </a:r>
            <a:endParaRPr lang="th-TH" sz="1500"/>
          </a:p>
        </p:txBody>
      </p:sp>
      <p:sp>
        <p:nvSpPr>
          <p:cNvPr id="17" name="roundRect17"/>
          <p:cNvSpPr/>
          <p:nvPr/>
        </p:nvSpPr>
        <p:spPr>
          <a:xfrm>
            <a:off x="4370832" y="4901184"/>
            <a:ext cx="2377440" cy="749808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2E86A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462272" y="5129784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500" b="1" dirty="0">
                <a:solidFill>
                  <a:srgbClr val="2E86AB"/>
                </a:solidFill>
                <a:latin typeface="Tahoma"/>
                <a:ea typeface="Tahoma"/>
                <a:cs typeface="Tahoma"/>
              </a:rPr>
              <a:t>Research</a:t>
            </a:r>
            <a:endParaRPr lang="th-TH" sz="1500"/>
          </a:p>
        </p:txBody>
      </p:sp>
      <p:sp>
        <p:nvSpPr>
          <p:cNvPr id="19" name="roundRect19"/>
          <p:cNvSpPr/>
          <p:nvPr/>
        </p:nvSpPr>
        <p:spPr>
          <a:xfrm>
            <a:off x="8046720" y="4343400"/>
            <a:ext cx="2377440" cy="749808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C5A02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138160" y="457200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500" b="1" dirty="0">
                <a:solidFill>
                  <a:srgbClr val="C5A028"/>
                </a:solidFill>
                <a:latin typeface="Tahoma"/>
                <a:ea typeface="Tahoma"/>
                <a:cs typeface="Tahoma"/>
              </a:rPr>
              <a:t>Finance</a:t>
            </a:r>
            <a:endParaRPr lang="th-TH" sz="1500"/>
          </a:p>
        </p:txBody>
      </p:sp>
      <p:sp>
        <p:nvSpPr>
          <p:cNvPr id="21" name="roundRect21"/>
          <p:cNvSpPr/>
          <p:nvPr/>
        </p:nvSpPr>
        <p:spPr>
          <a:xfrm>
            <a:off x="8458200" y="1481328"/>
            <a:ext cx="2377440" cy="749808"/>
          </a:xfrm>
          <a:prstGeom prst="roundRect">
            <a:avLst/>
          </a:prstGeom>
          <a:solidFill>
            <a:srgbClr val="F7E7F0"/>
          </a:solidFill>
          <a:ln w="12700">
            <a:solidFill>
              <a:srgbClr val="A23B72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549640" y="170992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500" b="1" dirty="0">
                <a:solidFill>
                  <a:srgbClr val="A23B72"/>
                </a:solidFill>
                <a:latin typeface="Tahoma"/>
                <a:ea typeface="Tahoma"/>
                <a:cs typeface="Tahoma"/>
              </a:rPr>
              <a:t>OKR</a:t>
            </a:r>
            <a:endParaRPr lang="th-TH" sz="1500"/>
          </a:p>
        </p:txBody>
      </p:sp>
      <p:sp>
        <p:nvSpPr>
          <p:cNvPr id="23" name="roundRect23"/>
          <p:cNvSpPr/>
          <p:nvPr/>
        </p:nvSpPr>
        <p:spPr>
          <a:xfrm>
            <a:off x="4480560" y="841248"/>
            <a:ext cx="2377440" cy="749808"/>
          </a:xfrm>
          <a:prstGeom prst="roundRect">
            <a:avLst/>
          </a:prstGeom>
          <a:solidFill>
            <a:srgbClr val="FFF0DA"/>
          </a:solidFill>
          <a:ln w="12700">
            <a:solidFill>
              <a:srgbClr val="F18F01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572000" y="106984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500" b="1" dirty="0">
                <a:solidFill>
                  <a:srgbClr val="F18F01"/>
                </a:solidFill>
                <a:latin typeface="Tahoma"/>
                <a:ea typeface="Tahoma"/>
                <a:cs typeface="Tahoma"/>
              </a:rPr>
              <a:t>AI Chat</a:t>
            </a:r>
            <a:endParaRPr lang="th-TH" sz="1500"/>
          </a:p>
        </p:txBody>
      </p:sp>
      <p:sp>
        <p:nvSpPr>
          <p:cNvPr id="25" name="TextBox 25"/>
          <p:cNvSpPr txBox="1"/>
          <p:nvPr/>
        </p:nvSpPr>
        <p:spPr>
          <a:xfrm>
            <a:off x="1060704" y="5925312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55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รวบรวมข้อมูล -&gt; แสดงผลเป็นกราฟ/ตาราง -&gt; วิเคราะห์ด้วย AI -&gt; สนับสนุนการตัดสินใจ</a:t>
            </a:r>
            <a:endParaRPr lang="th-TH" sz="1550"/>
          </a:p>
        </p:txBody>
      </p:sp>
      <p:sp>
        <p:nvSpPr>
          <p:cNvPr id="26" name="rect26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02920" y="6519672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88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Science AI Dashboard | Final Project Presentation</a:t>
            </a:r>
            <a:endParaRPr lang="th-TH" sz="880"/>
          </a:p>
        </p:txBody>
      </p:sp>
      <p:sp>
        <p:nvSpPr>
          <p:cNvPr id="28" name="TextBox 28"/>
          <p:cNvSpPr txBox="1"/>
          <p:nvPr/>
        </p:nvSpPr>
        <p:spPr>
          <a:xfrm>
            <a:off x="10972800" y="649224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th-TH" sz="95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05</a:t>
            </a:r>
            <a:endParaRPr lang="th-TH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9646920" y="-777240"/>
            <a:ext cx="2971800" cy="1874520"/>
          </a:xfrm>
          <a:prstGeom prst="ellipse">
            <a:avLst/>
          </a:prstGeom>
          <a:solidFill>
            <a:srgbClr val="E4F3E8"/>
          </a:solidFill>
          <a:ln>
            <a:noFill/>
          </a:ln>
        </p:spPr>
      </p:sp>
      <p:sp>
        <p:nvSpPr>
          <p:cNvPr id="3" name="ellipse3"/>
          <p:cNvSpPr/>
          <p:nvPr/>
        </p:nvSpPr>
        <p:spPr>
          <a:xfrm>
            <a:off x="10497312" y="5285232"/>
            <a:ext cx="2359152" cy="1874520"/>
          </a:xfrm>
          <a:prstGeom prst="ellipse">
            <a:avLst/>
          </a:prstGeom>
          <a:solidFill>
            <a:srgbClr val="FFF1C8"/>
          </a:solidFill>
          <a:ln>
            <a:noFill/>
          </a:ln>
        </p:spPr>
      </p:sp>
      <p:sp>
        <p:nvSpPr>
          <p:cNvPr id="4" name="rect4"/>
          <p:cNvSpPr/>
          <p:nvPr/>
        </p:nvSpPr>
        <p:spPr>
          <a:xfrm rot="-540000">
            <a:off x="-685800" y="5989320"/>
            <a:ext cx="3611880" cy="109728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" name="rect5"/>
          <p:cNvSpPr/>
          <p:nvPr/>
        </p:nvSpPr>
        <p:spPr>
          <a:xfrm rot="-1080000">
            <a:off x="10698480" y="868680"/>
            <a:ext cx="1417320" cy="82296"/>
          </a:xfrm>
          <a:prstGeom prst="rect">
            <a:avLst/>
          </a:prstGeom>
          <a:solidFill>
            <a:srgbClr val="00A6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094976" y="13716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rgbClr val="B8D7C0"/>
                </a:solidFill>
                <a:latin typeface="Tahoma"/>
                <a:ea typeface="Tahoma"/>
                <a:cs typeface="Tahoma"/>
              </a:rPr>
              <a:t>SCI</a:t>
            </a:r>
            <a:endParaRPr lang="th-TH" sz="1600"/>
          </a:p>
        </p:txBody>
      </p:sp>
      <p:sp>
        <p:nvSpPr>
          <p:cNvPr id="7" name="rect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8" name="rect8"/>
          <p:cNvSpPr/>
          <p:nvPr/>
        </p:nvSpPr>
        <p:spPr>
          <a:xfrm>
            <a:off x="0" y="164592"/>
            <a:ext cx="1965960" cy="50292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0352" y="3474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1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Science AI Dashboard</a:t>
            </a:r>
            <a:endParaRPr lang="th-TH" sz="1100"/>
          </a:p>
        </p:txBody>
      </p:sp>
      <p:sp>
        <p:nvSpPr>
          <p:cNvPr id="10" name="TextBox 10"/>
          <p:cNvSpPr txBox="1"/>
          <p:nvPr/>
        </p:nvSpPr>
        <p:spPr>
          <a:xfrm>
            <a:off x="530352" y="658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เทคโนโลยีที่ใช้ในการพัฒนา</a:t>
            </a:r>
            <a:endParaRPr lang="th-TH" sz="2700"/>
          </a:p>
        </p:txBody>
      </p:sp>
      <p:sp>
        <p:nvSpPr>
          <p:cNvPr id="11" name="roundRect11"/>
          <p:cNvSpPr/>
          <p:nvPr/>
        </p:nvSpPr>
        <p:spPr>
          <a:xfrm>
            <a:off x="786384" y="1417320"/>
            <a:ext cx="10195560" cy="3895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</p:sp>
      <p:sp>
        <p:nvSpPr>
          <p:cNvPr id="12" name="rect12"/>
          <p:cNvSpPr/>
          <p:nvPr/>
        </p:nvSpPr>
        <p:spPr>
          <a:xfrm>
            <a:off x="786384" y="1417320"/>
            <a:ext cx="10195560" cy="493776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59536" y="1517904"/>
            <a:ext cx="1773936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Layer</a:t>
            </a:r>
            <a:endParaRPr lang="th-TH" sz="950"/>
          </a:p>
        </p:txBody>
      </p:sp>
      <p:sp>
        <p:nvSpPr>
          <p:cNvPr id="14" name="TextBox 14"/>
          <p:cNvSpPr txBox="1"/>
          <p:nvPr/>
        </p:nvSpPr>
        <p:spPr>
          <a:xfrm>
            <a:off x="2779776" y="1517904"/>
            <a:ext cx="2779776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Technology</a:t>
            </a:r>
            <a:endParaRPr lang="th-TH" sz="950"/>
          </a:p>
        </p:txBody>
      </p:sp>
      <p:sp>
        <p:nvSpPr>
          <p:cNvPr id="15" name="TextBox 15"/>
          <p:cNvSpPr txBox="1"/>
          <p:nvPr/>
        </p:nvSpPr>
        <p:spPr>
          <a:xfrm>
            <a:off x="5705856" y="1517904"/>
            <a:ext cx="5202936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บทบาทในระบบ</a:t>
            </a:r>
            <a:endParaRPr lang="th-TH" sz="950"/>
          </a:p>
        </p:txBody>
      </p:sp>
      <p:sp>
        <p:nvSpPr>
          <p:cNvPr id="16" name="rect16"/>
          <p:cNvSpPr/>
          <p:nvPr/>
        </p:nvSpPr>
        <p:spPr>
          <a:xfrm>
            <a:off x="786384" y="1911096"/>
            <a:ext cx="1019556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59536" y="2020824"/>
            <a:ext cx="1773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Frontend</a:t>
            </a:r>
            <a:endParaRPr lang="th-TH" sz="1020"/>
          </a:p>
        </p:txBody>
      </p:sp>
      <p:sp>
        <p:nvSpPr>
          <p:cNvPr id="18" name="TextBox 18"/>
          <p:cNvSpPr txBox="1"/>
          <p:nvPr/>
        </p:nvSpPr>
        <p:spPr>
          <a:xfrm>
            <a:off x="2779776" y="2020824"/>
            <a:ext cx="277977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React 19 + Vite 7</a:t>
            </a:r>
            <a:endParaRPr lang="th-TH" sz="1020"/>
          </a:p>
        </p:txBody>
      </p:sp>
      <p:sp>
        <p:nvSpPr>
          <p:cNvPr id="19" name="TextBox 19"/>
          <p:cNvSpPr txBox="1"/>
          <p:nvPr/>
        </p:nvSpPr>
        <p:spPr>
          <a:xfrm>
            <a:off x="5705856" y="2020824"/>
            <a:ext cx="5202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สร้าง Single Page Application และโหลดหน้าแบบรวดเร็ว</a:t>
            </a:r>
            <a:endParaRPr lang="th-TH" sz="1020"/>
          </a:p>
        </p:txBody>
      </p:sp>
      <p:sp>
        <p:nvSpPr>
          <p:cNvPr id="20" name="rect20"/>
          <p:cNvSpPr/>
          <p:nvPr/>
        </p:nvSpPr>
        <p:spPr>
          <a:xfrm>
            <a:off x="786384" y="2478024"/>
            <a:ext cx="10195560" cy="566928"/>
          </a:xfrm>
          <a:prstGeom prst="rect">
            <a:avLst/>
          </a:prstGeom>
          <a:solidFill>
            <a:srgbClr val="EEF6EF"/>
          </a:solidFill>
          <a:ln>
            <a:noFill/>
          </a:ln>
        </p:spPr>
      </p:sp>
      <p:sp>
        <p:nvSpPr>
          <p:cNvPr id="21" name="rect21"/>
          <p:cNvSpPr/>
          <p:nvPr/>
        </p:nvSpPr>
        <p:spPr>
          <a:xfrm>
            <a:off x="786384" y="2478024"/>
            <a:ext cx="1019556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59536" y="2587752"/>
            <a:ext cx="1773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Routing</a:t>
            </a:r>
            <a:endParaRPr lang="th-TH" sz="1020"/>
          </a:p>
        </p:txBody>
      </p:sp>
      <p:sp>
        <p:nvSpPr>
          <p:cNvPr id="23" name="TextBox 23"/>
          <p:cNvSpPr txBox="1"/>
          <p:nvPr/>
        </p:nvSpPr>
        <p:spPr>
          <a:xfrm>
            <a:off x="2779776" y="2587752"/>
            <a:ext cx="277977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React Router DOM 7</a:t>
            </a:r>
            <a:endParaRPr lang="th-TH" sz="1020"/>
          </a:p>
        </p:txBody>
      </p:sp>
      <p:sp>
        <p:nvSpPr>
          <p:cNvPr id="24" name="TextBox 24"/>
          <p:cNvSpPr txBox="1"/>
          <p:nvPr/>
        </p:nvSpPr>
        <p:spPr>
          <a:xfrm>
            <a:off x="5705856" y="2587752"/>
            <a:ext cx="5202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จัดการเส้นทางของ Dashboard 15 หน้าจอ</a:t>
            </a:r>
            <a:endParaRPr lang="th-TH" sz="1020"/>
          </a:p>
        </p:txBody>
      </p:sp>
      <p:sp>
        <p:nvSpPr>
          <p:cNvPr id="25" name="rect25"/>
          <p:cNvSpPr/>
          <p:nvPr/>
        </p:nvSpPr>
        <p:spPr>
          <a:xfrm>
            <a:off x="786384" y="3044952"/>
            <a:ext cx="1019556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59536" y="3154680"/>
            <a:ext cx="1773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Visualization</a:t>
            </a:r>
            <a:endParaRPr lang="th-TH" sz="1020"/>
          </a:p>
        </p:txBody>
      </p:sp>
      <p:sp>
        <p:nvSpPr>
          <p:cNvPr id="27" name="TextBox 27"/>
          <p:cNvSpPr txBox="1"/>
          <p:nvPr/>
        </p:nvSpPr>
        <p:spPr>
          <a:xfrm>
            <a:off x="2779776" y="3154680"/>
            <a:ext cx="277977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Chart.js / Recharts</a:t>
            </a:r>
            <a:endParaRPr lang="th-TH" sz="1020"/>
          </a:p>
        </p:txBody>
      </p:sp>
      <p:sp>
        <p:nvSpPr>
          <p:cNvPr id="28" name="TextBox 28"/>
          <p:cNvSpPr txBox="1"/>
          <p:nvPr/>
        </p:nvSpPr>
        <p:spPr>
          <a:xfrm>
            <a:off x="5705856" y="3154680"/>
            <a:ext cx="5202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สร้าง Bar, Line, Pie, Doughnut, Radar และกราฟอื่น ๆ</a:t>
            </a:r>
            <a:endParaRPr lang="th-TH" sz="1020"/>
          </a:p>
        </p:txBody>
      </p:sp>
      <p:sp>
        <p:nvSpPr>
          <p:cNvPr id="29" name="rect29"/>
          <p:cNvSpPr/>
          <p:nvPr/>
        </p:nvSpPr>
        <p:spPr>
          <a:xfrm>
            <a:off x="786384" y="3611880"/>
            <a:ext cx="10195560" cy="566928"/>
          </a:xfrm>
          <a:prstGeom prst="rect">
            <a:avLst/>
          </a:prstGeom>
          <a:solidFill>
            <a:srgbClr val="EEF6EF"/>
          </a:solidFill>
          <a:ln>
            <a:noFill/>
          </a:ln>
        </p:spPr>
      </p:sp>
      <p:sp>
        <p:nvSpPr>
          <p:cNvPr id="30" name="rect30"/>
          <p:cNvSpPr/>
          <p:nvPr/>
        </p:nvSpPr>
        <p:spPr>
          <a:xfrm>
            <a:off x="786384" y="3611880"/>
            <a:ext cx="1019556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59536" y="3721608"/>
            <a:ext cx="1773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Authentication</a:t>
            </a:r>
            <a:endParaRPr lang="th-TH" sz="1020"/>
          </a:p>
        </p:txBody>
      </p:sp>
      <p:sp>
        <p:nvSpPr>
          <p:cNvPr id="32" name="TextBox 32"/>
          <p:cNvSpPr txBox="1"/>
          <p:nvPr/>
        </p:nvSpPr>
        <p:spPr>
          <a:xfrm>
            <a:off x="2779776" y="3721608"/>
            <a:ext cx="277977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Firebase Auth</a:t>
            </a:r>
            <a:endParaRPr lang="th-TH" sz="1020"/>
          </a:p>
        </p:txBody>
      </p:sp>
      <p:sp>
        <p:nvSpPr>
          <p:cNvPr id="33" name="TextBox 33"/>
          <p:cNvSpPr txBox="1"/>
          <p:nvPr/>
        </p:nvSpPr>
        <p:spPr>
          <a:xfrm>
            <a:off x="5705856" y="3721608"/>
            <a:ext cx="5202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เข้าสู่ระบบด้วย Email/Password และ Google Sign-In</a:t>
            </a:r>
            <a:endParaRPr lang="th-TH" sz="1020"/>
          </a:p>
        </p:txBody>
      </p:sp>
      <p:sp>
        <p:nvSpPr>
          <p:cNvPr id="34" name="rect34"/>
          <p:cNvSpPr/>
          <p:nvPr/>
        </p:nvSpPr>
        <p:spPr>
          <a:xfrm>
            <a:off x="786384" y="4178808"/>
            <a:ext cx="1019556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59536" y="4288536"/>
            <a:ext cx="1773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AI Service</a:t>
            </a:r>
            <a:endParaRPr lang="th-TH" sz="1020"/>
          </a:p>
        </p:txBody>
      </p:sp>
      <p:sp>
        <p:nvSpPr>
          <p:cNvPr id="36" name="TextBox 36"/>
          <p:cNvSpPr txBox="1"/>
          <p:nvPr/>
        </p:nvSpPr>
        <p:spPr>
          <a:xfrm>
            <a:off x="2779776" y="4288536"/>
            <a:ext cx="277977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Google Gemini API</a:t>
            </a:r>
            <a:endParaRPr lang="th-TH" sz="1020"/>
          </a:p>
        </p:txBody>
      </p:sp>
      <p:sp>
        <p:nvSpPr>
          <p:cNvPr id="37" name="TextBox 37"/>
          <p:cNvSpPr txBox="1"/>
          <p:nvPr/>
        </p:nvSpPr>
        <p:spPr>
          <a:xfrm>
            <a:off x="5705856" y="4288536"/>
            <a:ext cx="5202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ตอบคำถามภาษาไทย สร้างกราฟ และช่วยพยากรณ์ข้อมูล</a:t>
            </a:r>
            <a:endParaRPr lang="th-TH" sz="1020"/>
          </a:p>
        </p:txBody>
      </p:sp>
      <p:sp>
        <p:nvSpPr>
          <p:cNvPr id="38" name="rect38"/>
          <p:cNvSpPr/>
          <p:nvPr/>
        </p:nvSpPr>
        <p:spPr>
          <a:xfrm>
            <a:off x="786384" y="4745736"/>
            <a:ext cx="10195560" cy="566928"/>
          </a:xfrm>
          <a:prstGeom prst="rect">
            <a:avLst/>
          </a:prstGeom>
          <a:solidFill>
            <a:srgbClr val="EEF6EF"/>
          </a:solidFill>
          <a:ln>
            <a:noFill/>
          </a:ln>
        </p:spPr>
      </p:sp>
      <p:sp>
        <p:nvSpPr>
          <p:cNvPr id="39" name="rect39"/>
          <p:cNvSpPr/>
          <p:nvPr/>
        </p:nvSpPr>
        <p:spPr>
          <a:xfrm>
            <a:off x="786384" y="4745736"/>
            <a:ext cx="1019556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59536" y="4855464"/>
            <a:ext cx="1773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Data Import</a:t>
            </a:r>
            <a:endParaRPr lang="th-TH" sz="1020"/>
          </a:p>
        </p:txBody>
      </p:sp>
      <p:sp>
        <p:nvSpPr>
          <p:cNvPr id="41" name="TextBox 41"/>
          <p:cNvSpPr txBox="1"/>
          <p:nvPr/>
        </p:nvSpPr>
        <p:spPr>
          <a:xfrm>
            <a:off x="2779776" y="4855464"/>
            <a:ext cx="277977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CSV / XLSX Parser</a:t>
            </a:r>
            <a:endParaRPr lang="th-TH" sz="1020"/>
          </a:p>
        </p:txBody>
      </p:sp>
      <p:sp>
        <p:nvSpPr>
          <p:cNvPr id="42" name="TextBox 42"/>
          <p:cNvSpPr txBox="1"/>
          <p:nvPr/>
        </p:nvSpPr>
        <p:spPr>
          <a:xfrm>
            <a:off x="5705856" y="4855464"/>
            <a:ext cx="5202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10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อัปโหลดรายชื่อนักศึกษาและ map column ได้</a:t>
            </a:r>
            <a:endParaRPr lang="th-TH" sz="1020"/>
          </a:p>
        </p:txBody>
      </p:sp>
      <p:sp>
        <p:nvSpPr>
          <p:cNvPr id="43" name="rect43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02920" y="6519672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88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Science AI Dashboard | Final Project Presentation</a:t>
            </a:r>
            <a:endParaRPr lang="th-TH" sz="880"/>
          </a:p>
        </p:txBody>
      </p:sp>
      <p:sp>
        <p:nvSpPr>
          <p:cNvPr id="45" name="TextBox 45"/>
          <p:cNvSpPr txBox="1"/>
          <p:nvPr/>
        </p:nvSpPr>
        <p:spPr>
          <a:xfrm>
            <a:off x="10972800" y="649224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th-TH" sz="95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06</a:t>
            </a:r>
            <a:endParaRPr lang="th-TH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9646920" y="-777240"/>
            <a:ext cx="2971800" cy="1874520"/>
          </a:xfrm>
          <a:prstGeom prst="ellipse">
            <a:avLst/>
          </a:prstGeom>
          <a:solidFill>
            <a:srgbClr val="E4F3E8"/>
          </a:solidFill>
          <a:ln>
            <a:noFill/>
          </a:ln>
        </p:spPr>
      </p:sp>
      <p:sp>
        <p:nvSpPr>
          <p:cNvPr id="3" name="ellipse3"/>
          <p:cNvSpPr/>
          <p:nvPr/>
        </p:nvSpPr>
        <p:spPr>
          <a:xfrm>
            <a:off x="10497312" y="5285232"/>
            <a:ext cx="2359152" cy="1874520"/>
          </a:xfrm>
          <a:prstGeom prst="ellipse">
            <a:avLst/>
          </a:prstGeom>
          <a:solidFill>
            <a:srgbClr val="FFF1C8"/>
          </a:solidFill>
          <a:ln>
            <a:noFill/>
          </a:ln>
        </p:spPr>
      </p:sp>
      <p:sp>
        <p:nvSpPr>
          <p:cNvPr id="4" name="rect4"/>
          <p:cNvSpPr/>
          <p:nvPr/>
        </p:nvSpPr>
        <p:spPr>
          <a:xfrm rot="-540000">
            <a:off x="-685800" y="5989320"/>
            <a:ext cx="3611880" cy="109728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" name="rect5"/>
          <p:cNvSpPr/>
          <p:nvPr/>
        </p:nvSpPr>
        <p:spPr>
          <a:xfrm rot="-1080000">
            <a:off x="10698480" y="868680"/>
            <a:ext cx="1417320" cy="82296"/>
          </a:xfrm>
          <a:prstGeom prst="rect">
            <a:avLst/>
          </a:prstGeom>
          <a:solidFill>
            <a:srgbClr val="00A6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094976" y="13716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rgbClr val="B8D7C0"/>
                </a:solidFill>
                <a:latin typeface="Tahoma"/>
                <a:ea typeface="Tahoma"/>
                <a:cs typeface="Tahoma"/>
              </a:rPr>
              <a:t>SCI</a:t>
            </a:r>
            <a:endParaRPr lang="th-TH" sz="1600"/>
          </a:p>
        </p:txBody>
      </p:sp>
      <p:sp>
        <p:nvSpPr>
          <p:cNvPr id="7" name="rect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8" name="rect8"/>
          <p:cNvSpPr/>
          <p:nvPr/>
        </p:nvSpPr>
        <p:spPr>
          <a:xfrm>
            <a:off x="0" y="164592"/>
            <a:ext cx="1965960" cy="50292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0352" y="3474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1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Science AI Dashboard</a:t>
            </a:r>
            <a:endParaRPr lang="th-TH" sz="1100"/>
          </a:p>
        </p:txBody>
      </p:sp>
      <p:sp>
        <p:nvSpPr>
          <p:cNvPr id="10" name="TextBox 10"/>
          <p:cNvSpPr txBox="1"/>
          <p:nvPr/>
        </p:nvSpPr>
        <p:spPr>
          <a:xfrm>
            <a:off x="530352" y="658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สถาปัตยกรรมของระบบ</a:t>
            </a:r>
            <a:endParaRPr lang="th-TH" sz="2700"/>
          </a:p>
        </p:txBody>
      </p:sp>
      <p:sp>
        <p:nvSpPr>
          <p:cNvPr id="11" name="roundRect11"/>
          <p:cNvSpPr/>
          <p:nvPr/>
        </p:nvSpPr>
        <p:spPr>
          <a:xfrm>
            <a:off x="749808" y="1481328"/>
            <a:ext cx="2834640" cy="3520440"/>
          </a:xfrm>
          <a:prstGeom prst="roundRect">
            <a:avLst/>
          </a:prstGeom>
          <a:solidFill>
            <a:srgbClr val="E7F4EA"/>
          </a:solidFill>
          <a:ln w="12700">
            <a:solidFill>
              <a:srgbClr val="00683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78992" y="1792224"/>
            <a:ext cx="217627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7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Client Browser</a:t>
            </a:r>
            <a:endParaRPr lang="th-TH" sz="1700"/>
          </a:p>
        </p:txBody>
      </p:sp>
      <p:sp>
        <p:nvSpPr>
          <p:cNvPr id="13" name="Bullet List 13"/>
          <p:cNvSpPr txBox="1"/>
          <p:nvPr/>
        </p:nvSpPr>
        <p:spPr>
          <a:xfrm>
            <a:off x="1051560" y="2331720"/>
            <a:ext cx="210312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19456" indent="-128016">
              <a:buFont typeface="Tahoma"/>
              <a:buChar char="•"/>
            </a:pPr>
            <a:r>
              <a:rPr lang="th-TH" sz="12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React Components</a:t>
            </a:r>
            <a:endParaRPr lang="th-TH" sz="1250"/>
          </a:p>
          <a:p>
            <a:pPr marL="219456" indent="-128016">
              <a:buFont typeface="Tahoma"/>
              <a:buChar char="•"/>
            </a:pPr>
            <a:r>
              <a:rPr lang="th-TH" sz="12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Router + Lazy Loading</a:t>
            </a:r>
            <a:endParaRPr lang="th-TH" sz="1250"/>
          </a:p>
          <a:p>
            <a:pPr marL="219456" indent="-128016">
              <a:buFont typeface="Tahoma"/>
              <a:buChar char="•"/>
            </a:pPr>
            <a:r>
              <a:rPr lang="th-TH" sz="12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Chart Rendering</a:t>
            </a:r>
            <a:endParaRPr lang="th-TH" sz="1250"/>
          </a:p>
          <a:p>
            <a:pPr marL="219456" indent="-128016">
              <a:buFont typeface="Tahoma"/>
              <a:buChar char="•"/>
            </a:pPr>
            <a:r>
              <a:rPr lang="th-TH" sz="12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Theme / Auth Context</a:t>
            </a:r>
            <a:endParaRPr lang="th-TH" sz="1250"/>
          </a:p>
        </p:txBody>
      </p:sp>
      <p:sp>
        <p:nvSpPr>
          <p:cNvPr id="14" name="TextBox 14"/>
          <p:cNvSpPr txBox="1"/>
          <p:nvPr/>
        </p:nvSpPr>
        <p:spPr>
          <a:xfrm>
            <a:off x="3895344" y="29718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2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&gt;</a:t>
            </a:r>
            <a:endParaRPr lang="th-TH" sz="2200"/>
          </a:p>
        </p:txBody>
      </p:sp>
      <p:sp>
        <p:nvSpPr>
          <p:cNvPr id="15" name="roundRect15"/>
          <p:cNvSpPr/>
          <p:nvPr/>
        </p:nvSpPr>
        <p:spPr>
          <a:xfrm>
            <a:off x="4407408" y="1481328"/>
            <a:ext cx="31546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700016" y="179222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7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Service &amp; Logic Layer</a:t>
            </a:r>
            <a:endParaRPr lang="th-TH" sz="1700"/>
          </a:p>
        </p:txBody>
      </p:sp>
      <p:sp>
        <p:nvSpPr>
          <p:cNvPr id="17" name="Bullet List 17"/>
          <p:cNvSpPr txBox="1"/>
          <p:nvPr/>
        </p:nvSpPr>
        <p:spPr>
          <a:xfrm>
            <a:off x="4736592" y="2331720"/>
            <a:ext cx="2514600" cy="1783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19456" indent="-128016">
              <a:buFont typeface="Tahoma"/>
              <a:buChar char="•"/>
            </a:pPr>
            <a:r>
              <a:rPr lang="th-TH" sz="12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Access Control</a:t>
            </a:r>
            <a:endParaRPr lang="th-TH" sz="1250"/>
          </a:p>
          <a:p>
            <a:pPr marL="219456" indent="-128016">
              <a:buFont typeface="Tahoma"/>
              <a:buChar char="•"/>
            </a:pPr>
            <a:r>
              <a:rPr lang="th-TH" sz="12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Student Data Service</a:t>
            </a:r>
            <a:endParaRPr lang="th-TH" sz="1250"/>
          </a:p>
          <a:p>
            <a:pPr marL="219456" indent="-128016">
              <a:buFont typeface="Tahoma"/>
              <a:buChar char="•"/>
            </a:pPr>
            <a:r>
              <a:rPr lang="th-TH" sz="12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File Parser</a:t>
            </a:r>
            <a:endParaRPr lang="th-TH" sz="1250"/>
          </a:p>
          <a:p>
            <a:pPr marL="219456" indent="-128016">
              <a:buFont typeface="Tahoma"/>
              <a:buChar char="•"/>
            </a:pPr>
            <a:r>
              <a:rPr lang="th-TH" sz="12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Gemini Service</a:t>
            </a:r>
            <a:endParaRPr lang="th-TH" sz="1250"/>
          </a:p>
          <a:p>
            <a:pPr marL="219456" indent="-128016">
              <a:buFont typeface="Tahoma"/>
              <a:buChar char="•"/>
            </a:pPr>
            <a:r>
              <a:rPr lang="th-TH" sz="12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Forecast Calculation</a:t>
            </a:r>
            <a:endParaRPr lang="th-TH" sz="1250"/>
          </a:p>
        </p:txBody>
      </p:sp>
      <p:sp>
        <p:nvSpPr>
          <p:cNvPr id="18" name="TextBox 18"/>
          <p:cNvSpPr txBox="1"/>
          <p:nvPr/>
        </p:nvSpPr>
        <p:spPr>
          <a:xfrm>
            <a:off x="7882128" y="29718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2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&gt;</a:t>
            </a:r>
            <a:endParaRPr lang="th-TH" sz="2200"/>
          </a:p>
        </p:txBody>
      </p:sp>
      <p:sp>
        <p:nvSpPr>
          <p:cNvPr id="19" name="roundRect19"/>
          <p:cNvSpPr/>
          <p:nvPr/>
        </p:nvSpPr>
        <p:spPr>
          <a:xfrm>
            <a:off x="8339328" y="1481328"/>
            <a:ext cx="2880360" cy="146304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2E86A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659368" y="192024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700" b="1" dirty="0">
                <a:solidFill>
                  <a:srgbClr val="2E86AB"/>
                </a:solidFill>
                <a:latin typeface="Tahoma"/>
                <a:ea typeface="Tahoma"/>
                <a:cs typeface="Tahoma"/>
              </a:rPr>
              <a:t>Firebase Auth</a:t>
            </a:r>
            <a:endParaRPr lang="th-TH" sz="1700"/>
          </a:p>
        </p:txBody>
      </p:sp>
      <p:sp>
        <p:nvSpPr>
          <p:cNvPr id="21" name="roundRect21"/>
          <p:cNvSpPr/>
          <p:nvPr/>
        </p:nvSpPr>
        <p:spPr>
          <a:xfrm>
            <a:off x="8339328" y="3246120"/>
            <a:ext cx="2880360" cy="1755648"/>
          </a:xfrm>
          <a:prstGeom prst="roundRect">
            <a:avLst/>
          </a:prstGeom>
          <a:solidFill>
            <a:srgbClr val="F7E7F0"/>
          </a:solidFill>
          <a:ln w="12700">
            <a:solidFill>
              <a:srgbClr val="A23B72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558784" y="3767328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700" b="1" dirty="0">
                <a:solidFill>
                  <a:srgbClr val="A23B72"/>
                </a:solidFill>
                <a:latin typeface="Tahoma"/>
                <a:ea typeface="Tahoma"/>
                <a:cs typeface="Tahoma"/>
              </a:rPr>
              <a:t>Google Gemini API</a:t>
            </a:r>
            <a:endParaRPr lang="th-TH" sz="1700"/>
          </a:p>
        </p:txBody>
      </p:sp>
      <p:sp>
        <p:nvSpPr>
          <p:cNvPr id="23" name="TextBox 23"/>
          <p:cNvSpPr txBox="1"/>
          <p:nvPr/>
        </p:nvSpPr>
        <p:spPr>
          <a:xfrm>
            <a:off x="877824" y="5532120"/>
            <a:ext cx="10287000" cy="411480"/>
          </a:xfrm>
          <a:prstGeom prst="roundRect">
            <a:avLst/>
          </a:prstGeom>
          <a:solidFill>
            <a:srgbClr val="006838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52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รูปแบบนี้ทำให้ระบบเป็น Web App ที่เบา ใช้ข้อมูลฝั่ง Client เป็นหลัก และแยกบริการ AI/Auth ชัดเจน</a:t>
            </a:r>
            <a:endParaRPr lang="th-TH" sz="1520"/>
          </a:p>
        </p:txBody>
      </p:sp>
      <p:sp>
        <p:nvSpPr>
          <p:cNvPr id="24" name="rect24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02920" y="6519672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88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Science AI Dashboard | Final Project Presentation</a:t>
            </a:r>
            <a:endParaRPr lang="th-TH" sz="880"/>
          </a:p>
        </p:txBody>
      </p:sp>
      <p:sp>
        <p:nvSpPr>
          <p:cNvPr id="26" name="TextBox 26"/>
          <p:cNvSpPr txBox="1"/>
          <p:nvPr/>
        </p:nvSpPr>
        <p:spPr>
          <a:xfrm>
            <a:off x="10972800" y="649224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th-TH" sz="95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07</a:t>
            </a:r>
            <a:endParaRPr lang="th-TH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9646920" y="-777240"/>
            <a:ext cx="2971800" cy="1874520"/>
          </a:xfrm>
          <a:prstGeom prst="ellipse">
            <a:avLst/>
          </a:prstGeom>
          <a:solidFill>
            <a:srgbClr val="E4F3E8"/>
          </a:solidFill>
          <a:ln>
            <a:noFill/>
          </a:ln>
        </p:spPr>
      </p:sp>
      <p:sp>
        <p:nvSpPr>
          <p:cNvPr id="3" name="ellipse3"/>
          <p:cNvSpPr/>
          <p:nvPr/>
        </p:nvSpPr>
        <p:spPr>
          <a:xfrm>
            <a:off x="10497312" y="5285232"/>
            <a:ext cx="2359152" cy="1874520"/>
          </a:xfrm>
          <a:prstGeom prst="ellipse">
            <a:avLst/>
          </a:prstGeom>
          <a:solidFill>
            <a:srgbClr val="FFF1C8"/>
          </a:solidFill>
          <a:ln>
            <a:noFill/>
          </a:ln>
        </p:spPr>
      </p:sp>
      <p:sp>
        <p:nvSpPr>
          <p:cNvPr id="4" name="rect4"/>
          <p:cNvSpPr/>
          <p:nvPr/>
        </p:nvSpPr>
        <p:spPr>
          <a:xfrm rot="-540000">
            <a:off x="-685800" y="5989320"/>
            <a:ext cx="3611880" cy="109728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" name="rect5"/>
          <p:cNvSpPr/>
          <p:nvPr/>
        </p:nvSpPr>
        <p:spPr>
          <a:xfrm rot="-1080000">
            <a:off x="10698480" y="868680"/>
            <a:ext cx="1417320" cy="82296"/>
          </a:xfrm>
          <a:prstGeom prst="rect">
            <a:avLst/>
          </a:prstGeom>
          <a:solidFill>
            <a:srgbClr val="00A6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094976" y="13716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rgbClr val="B8D7C0"/>
                </a:solidFill>
                <a:latin typeface="Tahoma"/>
                <a:ea typeface="Tahoma"/>
                <a:cs typeface="Tahoma"/>
              </a:rPr>
              <a:t>SCI</a:t>
            </a:r>
            <a:endParaRPr lang="th-TH" sz="1600"/>
          </a:p>
        </p:txBody>
      </p:sp>
      <p:sp>
        <p:nvSpPr>
          <p:cNvPr id="7" name="rect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8" name="rect8"/>
          <p:cNvSpPr/>
          <p:nvPr/>
        </p:nvSpPr>
        <p:spPr>
          <a:xfrm>
            <a:off x="0" y="164592"/>
            <a:ext cx="1965960" cy="50292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0352" y="3474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1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Science AI Dashboard</a:t>
            </a:r>
            <a:endParaRPr lang="th-TH" sz="1100"/>
          </a:p>
        </p:txBody>
      </p:sp>
      <p:sp>
        <p:nvSpPr>
          <p:cNvPr id="10" name="TextBox 10"/>
          <p:cNvSpPr txBox="1"/>
          <p:nvPr/>
        </p:nvSpPr>
        <p:spPr>
          <a:xfrm>
            <a:off x="530352" y="658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ข้อมูลและ Data Visualization</a:t>
            </a:r>
            <a:endParaRPr lang="th-TH" sz="2700"/>
          </a:p>
        </p:txBody>
      </p:sp>
      <p:sp>
        <p:nvSpPr>
          <p:cNvPr id="11" name="roundRect11"/>
          <p:cNvSpPr/>
          <p:nvPr/>
        </p:nvSpPr>
        <p:spPr>
          <a:xfrm>
            <a:off x="768096" y="1426464"/>
            <a:ext cx="2331720" cy="1005840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D7E2DA"/>
            </a:solidFill>
          </a:ln>
        </p:spPr>
      </p:sp>
      <p:sp>
        <p:nvSpPr>
          <p:cNvPr id="12" name="rect12"/>
          <p:cNvSpPr/>
          <p:nvPr/>
        </p:nvSpPr>
        <p:spPr>
          <a:xfrm>
            <a:off x="768096" y="1426464"/>
            <a:ext cx="73152" cy="1005840"/>
          </a:xfrm>
          <a:prstGeom prst="rect">
            <a:avLst/>
          </a:prstGeom>
          <a:solidFill>
            <a:srgbClr val="7B68E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96696" y="1609344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นักศึกษา</a:t>
            </a:r>
            <a:endParaRPr lang="th-TH" sz="1200"/>
          </a:p>
        </p:txBody>
      </p:sp>
      <p:sp>
        <p:nvSpPr>
          <p:cNvPr id="14" name="TextBox 14"/>
          <p:cNvSpPr txBox="1"/>
          <p:nvPr/>
        </p:nvSpPr>
        <p:spPr>
          <a:xfrm>
            <a:off x="996696" y="195681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3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16,838 คน</a:t>
            </a:r>
            <a:endParaRPr lang="th-TH" sz="2300"/>
          </a:p>
        </p:txBody>
      </p:sp>
      <p:sp>
        <p:nvSpPr>
          <p:cNvPr id="15" name="roundRect15"/>
          <p:cNvSpPr/>
          <p:nvPr/>
        </p:nvSpPr>
        <p:spPr>
          <a:xfrm>
            <a:off x="3364992" y="1426464"/>
            <a:ext cx="2331720" cy="1005840"/>
          </a:xfrm>
          <a:prstGeom prst="roundRect">
            <a:avLst/>
          </a:prstGeom>
          <a:solidFill>
            <a:srgbClr val="E7F4EA"/>
          </a:solidFill>
          <a:ln w="12700">
            <a:solidFill>
              <a:srgbClr val="D7E2DA"/>
            </a:solidFill>
          </a:ln>
        </p:spPr>
      </p:sp>
      <p:sp>
        <p:nvSpPr>
          <p:cNvPr id="16" name="rect16"/>
          <p:cNvSpPr/>
          <p:nvPr/>
        </p:nvSpPr>
        <p:spPr>
          <a:xfrm>
            <a:off x="3364992" y="1426464"/>
            <a:ext cx="73152" cy="1005840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593592" y="1609344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บุคลากรคณะ</a:t>
            </a:r>
            <a:endParaRPr lang="th-TH" sz="1200"/>
          </a:p>
        </p:txBody>
      </p:sp>
      <p:sp>
        <p:nvSpPr>
          <p:cNvPr id="18" name="TextBox 18"/>
          <p:cNvSpPr txBox="1"/>
          <p:nvPr/>
        </p:nvSpPr>
        <p:spPr>
          <a:xfrm>
            <a:off x="3593592" y="195681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3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173 คน</a:t>
            </a:r>
            <a:endParaRPr lang="th-TH" sz="2300"/>
          </a:p>
        </p:txBody>
      </p:sp>
      <p:sp>
        <p:nvSpPr>
          <p:cNvPr id="19" name="roundRect19"/>
          <p:cNvSpPr/>
          <p:nvPr/>
        </p:nvSpPr>
        <p:spPr>
          <a:xfrm>
            <a:off x="5961888" y="1426464"/>
            <a:ext cx="2331720" cy="100584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D7E2DA"/>
            </a:solidFill>
          </a:ln>
        </p:spPr>
      </p:sp>
      <p:sp>
        <p:nvSpPr>
          <p:cNvPr id="20" name="rect20"/>
          <p:cNvSpPr/>
          <p:nvPr/>
        </p:nvSpPr>
        <p:spPr>
          <a:xfrm>
            <a:off x="5961888" y="1426464"/>
            <a:ext cx="73152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190488" y="1609344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งานวิจัยสะสม</a:t>
            </a:r>
            <a:endParaRPr lang="th-TH" sz="1200"/>
          </a:p>
        </p:txBody>
      </p:sp>
      <p:sp>
        <p:nvSpPr>
          <p:cNvPr id="22" name="TextBox 22"/>
          <p:cNvSpPr txBox="1"/>
          <p:nvPr/>
        </p:nvSpPr>
        <p:spPr>
          <a:xfrm>
            <a:off x="6190488" y="195681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2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1,284 เรื่อง</a:t>
            </a:r>
            <a:endParaRPr lang="th-TH" sz="2200"/>
          </a:p>
        </p:txBody>
      </p:sp>
      <p:sp>
        <p:nvSpPr>
          <p:cNvPr id="23" name="roundRect23"/>
          <p:cNvSpPr/>
          <p:nvPr/>
        </p:nvSpPr>
        <p:spPr>
          <a:xfrm>
            <a:off x="8558784" y="1426464"/>
            <a:ext cx="2331720" cy="100584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D7E2DA"/>
            </a:solidFill>
          </a:ln>
        </p:spPr>
      </p:sp>
      <p:sp>
        <p:nvSpPr>
          <p:cNvPr id="24" name="rect24"/>
          <p:cNvSpPr/>
          <p:nvPr/>
        </p:nvSpPr>
        <p:spPr>
          <a:xfrm>
            <a:off x="8558784" y="1426464"/>
            <a:ext cx="73152" cy="1005840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787384" y="1609344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ทุนวิจัย 2568</a:t>
            </a:r>
            <a:endParaRPr lang="th-TH" sz="1200"/>
          </a:p>
        </p:txBody>
      </p:sp>
      <p:sp>
        <p:nvSpPr>
          <p:cNvPr id="26" name="TextBox 26"/>
          <p:cNvSpPr txBox="1"/>
          <p:nvPr/>
        </p:nvSpPr>
        <p:spPr>
          <a:xfrm>
            <a:off x="8787384" y="195681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2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28.3 ลบ.</a:t>
            </a:r>
            <a:endParaRPr lang="th-TH" sz="2200"/>
          </a:p>
        </p:txBody>
      </p:sp>
      <p:sp>
        <p:nvSpPr>
          <p:cNvPr id="27" name="TextBox 27"/>
          <p:cNvSpPr txBox="1"/>
          <p:nvPr/>
        </p:nvSpPr>
        <p:spPr>
          <a:xfrm>
            <a:off x="841248" y="279806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7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ประเภทกราฟที่รองรับ</a:t>
            </a:r>
            <a:endParaRPr lang="th-TH" sz="1700"/>
          </a:p>
        </p:txBody>
      </p:sp>
      <p:sp>
        <p:nvSpPr>
          <p:cNvPr id="28" name="roundRect28"/>
          <p:cNvSpPr/>
          <p:nvPr/>
        </p:nvSpPr>
        <p:spPr>
          <a:xfrm>
            <a:off x="859536" y="3273552"/>
            <a:ext cx="2057400" cy="347472"/>
          </a:xfrm>
          <a:prstGeom prst="round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32688" y="3342132"/>
            <a:ext cx="1911096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th-TH" sz="102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Bar</a:t>
            </a:r>
            <a:endParaRPr lang="th-TH" sz="1020"/>
          </a:p>
        </p:txBody>
      </p:sp>
      <p:sp>
        <p:nvSpPr>
          <p:cNvPr id="30" name="roundRect30"/>
          <p:cNvSpPr/>
          <p:nvPr/>
        </p:nvSpPr>
        <p:spPr>
          <a:xfrm>
            <a:off x="3401568" y="3273552"/>
            <a:ext cx="2057400" cy="34747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474720" y="3342132"/>
            <a:ext cx="1911096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th-TH" sz="102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Line</a:t>
            </a:r>
            <a:endParaRPr lang="th-TH" sz="1020"/>
          </a:p>
        </p:txBody>
      </p:sp>
      <p:sp>
        <p:nvSpPr>
          <p:cNvPr id="32" name="roundRect32"/>
          <p:cNvSpPr/>
          <p:nvPr/>
        </p:nvSpPr>
        <p:spPr>
          <a:xfrm>
            <a:off x="5943600" y="3273552"/>
            <a:ext cx="2057400" cy="347472"/>
          </a:xfrm>
          <a:prstGeom prst="round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016752" y="3342132"/>
            <a:ext cx="1911096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th-TH" sz="102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Pie</a:t>
            </a:r>
            <a:endParaRPr lang="th-TH" sz="1020"/>
          </a:p>
        </p:txBody>
      </p:sp>
      <p:sp>
        <p:nvSpPr>
          <p:cNvPr id="34" name="roundRect34"/>
          <p:cNvSpPr/>
          <p:nvPr/>
        </p:nvSpPr>
        <p:spPr>
          <a:xfrm>
            <a:off x="8485632" y="3273552"/>
            <a:ext cx="2057400" cy="347472"/>
          </a:xfrm>
          <a:prstGeom prst="roundRect">
            <a:avLst/>
          </a:prstGeom>
          <a:solidFill>
            <a:srgbClr val="A23B72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558784" y="3342132"/>
            <a:ext cx="1911096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th-TH" sz="102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Doughnut</a:t>
            </a:r>
            <a:endParaRPr lang="th-TH" sz="1020"/>
          </a:p>
        </p:txBody>
      </p:sp>
      <p:sp>
        <p:nvSpPr>
          <p:cNvPr id="36" name="roundRect36"/>
          <p:cNvSpPr/>
          <p:nvPr/>
        </p:nvSpPr>
        <p:spPr>
          <a:xfrm>
            <a:off x="859536" y="4023360"/>
            <a:ext cx="2057400" cy="347472"/>
          </a:xfrm>
          <a:prstGeom prst="round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32688" y="4091940"/>
            <a:ext cx="1911096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th-TH" sz="102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Radar</a:t>
            </a:r>
            <a:endParaRPr lang="th-TH" sz="1020"/>
          </a:p>
        </p:txBody>
      </p:sp>
      <p:sp>
        <p:nvSpPr>
          <p:cNvPr id="38" name="roundRect38"/>
          <p:cNvSpPr/>
          <p:nvPr/>
        </p:nvSpPr>
        <p:spPr>
          <a:xfrm>
            <a:off x="3401568" y="4023360"/>
            <a:ext cx="2057400" cy="34747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474720" y="4091940"/>
            <a:ext cx="1911096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th-TH" sz="102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Polar Area</a:t>
            </a:r>
            <a:endParaRPr lang="th-TH" sz="1020"/>
          </a:p>
        </p:txBody>
      </p:sp>
      <p:sp>
        <p:nvSpPr>
          <p:cNvPr id="40" name="roundRect40"/>
          <p:cNvSpPr/>
          <p:nvPr/>
        </p:nvSpPr>
        <p:spPr>
          <a:xfrm>
            <a:off x="5943600" y="4023360"/>
            <a:ext cx="2057400" cy="347472"/>
          </a:xfrm>
          <a:prstGeom prst="round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016752" y="4091940"/>
            <a:ext cx="1911096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th-TH" sz="102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Stacked Bar</a:t>
            </a:r>
            <a:endParaRPr lang="th-TH" sz="1020"/>
          </a:p>
        </p:txBody>
      </p:sp>
      <p:sp>
        <p:nvSpPr>
          <p:cNvPr id="42" name="roundRect42"/>
          <p:cNvSpPr/>
          <p:nvPr/>
        </p:nvSpPr>
        <p:spPr>
          <a:xfrm>
            <a:off x="7360920" y="2980944"/>
            <a:ext cx="34015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</p:sp>
      <p:sp>
        <p:nvSpPr>
          <p:cNvPr id="43" name="rect43"/>
          <p:cNvSpPr/>
          <p:nvPr/>
        </p:nvSpPr>
        <p:spPr>
          <a:xfrm>
            <a:off x="7754112" y="4453128"/>
            <a:ext cx="2651760" cy="16459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44" name="roundRect44"/>
          <p:cNvSpPr/>
          <p:nvPr/>
        </p:nvSpPr>
        <p:spPr>
          <a:xfrm>
            <a:off x="7754112" y="4042244"/>
            <a:ext cx="749808" cy="410884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708392" y="3786212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5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78</a:t>
            </a:r>
            <a:endParaRPr lang="th-TH" sz="950"/>
          </a:p>
        </p:txBody>
      </p:sp>
      <p:sp>
        <p:nvSpPr>
          <p:cNvPr id="46" name="TextBox 46"/>
          <p:cNvSpPr txBox="1"/>
          <p:nvPr/>
        </p:nvSpPr>
        <p:spPr>
          <a:xfrm>
            <a:off x="7644384" y="4517136"/>
            <a:ext cx="9692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84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2567</a:t>
            </a:r>
            <a:endParaRPr lang="th-TH" sz="840"/>
          </a:p>
        </p:txBody>
      </p:sp>
      <p:sp>
        <p:nvSpPr>
          <p:cNvPr id="47" name="roundRect47"/>
          <p:cNvSpPr/>
          <p:nvPr/>
        </p:nvSpPr>
        <p:spPr>
          <a:xfrm>
            <a:off x="8705088" y="4005370"/>
            <a:ext cx="749808" cy="447758"/>
          </a:xfrm>
          <a:prstGeom prst="round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659368" y="3749338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5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85</a:t>
            </a:r>
            <a:endParaRPr lang="th-TH" sz="950"/>
          </a:p>
        </p:txBody>
      </p:sp>
      <p:sp>
        <p:nvSpPr>
          <p:cNvPr id="49" name="TextBox 49"/>
          <p:cNvSpPr txBox="1"/>
          <p:nvPr/>
        </p:nvSpPr>
        <p:spPr>
          <a:xfrm>
            <a:off x="8595360" y="4517136"/>
            <a:ext cx="9692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84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2568</a:t>
            </a:r>
            <a:endParaRPr lang="th-TH" sz="840"/>
          </a:p>
        </p:txBody>
      </p:sp>
      <p:sp>
        <p:nvSpPr>
          <p:cNvPr id="50" name="roundRect50"/>
          <p:cNvSpPr/>
          <p:nvPr/>
        </p:nvSpPr>
        <p:spPr>
          <a:xfrm>
            <a:off x="9656064" y="3968496"/>
            <a:ext cx="749808" cy="484632"/>
          </a:xfrm>
          <a:prstGeom prst="round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9610344" y="3712464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5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92</a:t>
            </a:r>
            <a:endParaRPr lang="th-TH" sz="950"/>
          </a:p>
        </p:txBody>
      </p:sp>
      <p:sp>
        <p:nvSpPr>
          <p:cNvPr id="52" name="TextBox 52"/>
          <p:cNvSpPr txBox="1"/>
          <p:nvPr/>
        </p:nvSpPr>
        <p:spPr>
          <a:xfrm>
            <a:off x="9546336" y="4517136"/>
            <a:ext cx="9692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84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2569</a:t>
            </a:r>
            <a:endParaRPr lang="th-TH" sz="840"/>
          </a:p>
        </p:txBody>
      </p:sp>
      <p:sp>
        <p:nvSpPr>
          <p:cNvPr id="53" name="TextBox 53"/>
          <p:cNvSpPr txBox="1"/>
          <p:nvPr/>
        </p:nvSpPr>
        <p:spPr>
          <a:xfrm>
            <a:off x="7790688" y="4572000"/>
            <a:ext cx="2596896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06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ตัวอย่างแนวโน้ม Scopus</a:t>
            </a:r>
            <a:endParaRPr lang="th-TH" sz="1060"/>
          </a:p>
          <a:p>
            <a:pPr algn="ctr"/>
            <a:r>
              <a:rPr lang="th-TH" sz="106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actual + forecast</a:t>
            </a:r>
            <a:endParaRPr lang="th-TH" sz="1060"/>
          </a:p>
        </p:txBody>
      </p:sp>
      <p:sp>
        <p:nvSpPr>
          <p:cNvPr id="54" name="TextBox 54"/>
          <p:cNvSpPr txBox="1"/>
          <p:nvPr/>
        </p:nvSpPr>
        <p:spPr>
          <a:xfrm>
            <a:off x="896112" y="5687568"/>
            <a:ext cx="103327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th-TH" sz="155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เป้าหมายคือให้ผู้ใช้ไม่ต้องอ่านตารางยาว แต่เห็นแนวโน้ม สัดส่วน และจุดที่ต้องตัดสินใจได้ทันที</a:t>
            </a:r>
            <a:endParaRPr lang="th-TH" sz="1550"/>
          </a:p>
        </p:txBody>
      </p:sp>
      <p:sp>
        <p:nvSpPr>
          <p:cNvPr id="55" name="rect55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02920" y="6519672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88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Science AI Dashboard | Final Project Presentation</a:t>
            </a:r>
            <a:endParaRPr lang="th-TH" sz="880"/>
          </a:p>
        </p:txBody>
      </p:sp>
      <p:sp>
        <p:nvSpPr>
          <p:cNvPr id="57" name="TextBox 57"/>
          <p:cNvSpPr txBox="1"/>
          <p:nvPr/>
        </p:nvSpPr>
        <p:spPr>
          <a:xfrm>
            <a:off x="10972800" y="649224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th-TH" sz="95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08</a:t>
            </a:r>
            <a:endParaRPr lang="th-TH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9646920" y="-777240"/>
            <a:ext cx="2971800" cy="1874520"/>
          </a:xfrm>
          <a:prstGeom prst="ellipse">
            <a:avLst/>
          </a:prstGeom>
          <a:solidFill>
            <a:srgbClr val="E4F3E8"/>
          </a:solidFill>
          <a:ln>
            <a:noFill/>
          </a:ln>
        </p:spPr>
      </p:sp>
      <p:sp>
        <p:nvSpPr>
          <p:cNvPr id="3" name="ellipse3"/>
          <p:cNvSpPr/>
          <p:nvPr/>
        </p:nvSpPr>
        <p:spPr>
          <a:xfrm>
            <a:off x="10497312" y="5285232"/>
            <a:ext cx="2359152" cy="1874520"/>
          </a:xfrm>
          <a:prstGeom prst="ellipse">
            <a:avLst/>
          </a:prstGeom>
          <a:solidFill>
            <a:srgbClr val="FFF1C8"/>
          </a:solidFill>
          <a:ln>
            <a:noFill/>
          </a:ln>
        </p:spPr>
      </p:sp>
      <p:sp>
        <p:nvSpPr>
          <p:cNvPr id="4" name="rect4"/>
          <p:cNvSpPr/>
          <p:nvPr/>
        </p:nvSpPr>
        <p:spPr>
          <a:xfrm rot="-540000">
            <a:off x="-685800" y="5989320"/>
            <a:ext cx="3611880" cy="109728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" name="rect5"/>
          <p:cNvSpPr/>
          <p:nvPr/>
        </p:nvSpPr>
        <p:spPr>
          <a:xfrm rot="-1080000">
            <a:off x="10698480" y="868680"/>
            <a:ext cx="1417320" cy="82296"/>
          </a:xfrm>
          <a:prstGeom prst="rect">
            <a:avLst/>
          </a:prstGeom>
          <a:solidFill>
            <a:srgbClr val="00A6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094976" y="13716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rgbClr val="B8D7C0"/>
                </a:solidFill>
                <a:latin typeface="Tahoma"/>
                <a:ea typeface="Tahoma"/>
                <a:cs typeface="Tahoma"/>
              </a:rPr>
              <a:t>SCI</a:t>
            </a:r>
            <a:endParaRPr lang="th-TH" sz="1600"/>
          </a:p>
        </p:txBody>
      </p:sp>
      <p:sp>
        <p:nvSpPr>
          <p:cNvPr id="7" name="rect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8" name="rect8"/>
          <p:cNvSpPr/>
          <p:nvPr/>
        </p:nvSpPr>
        <p:spPr>
          <a:xfrm>
            <a:off x="0" y="164592"/>
            <a:ext cx="1965960" cy="50292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0352" y="3474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1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Science AI Dashboard</a:t>
            </a:r>
            <a:endParaRPr lang="th-TH" sz="1100"/>
          </a:p>
        </p:txBody>
      </p:sp>
      <p:sp>
        <p:nvSpPr>
          <p:cNvPr id="10" name="TextBox 10"/>
          <p:cNvSpPr txBox="1"/>
          <p:nvPr/>
        </p:nvSpPr>
        <p:spPr>
          <a:xfrm>
            <a:off x="530352" y="658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ผลลัพธ์หน้าหลักของ Dashboard</a:t>
            </a:r>
            <a:endParaRPr lang="th-TH" sz="2700"/>
          </a:p>
        </p:txBody>
      </p:sp>
      <p:sp>
        <p:nvSpPr>
          <p:cNvPr id="11" name="roundRect11"/>
          <p:cNvSpPr/>
          <p:nvPr/>
        </p:nvSpPr>
        <p:spPr>
          <a:xfrm>
            <a:off x="749808" y="1426464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</p:sp>
      <p:sp>
        <p:nvSpPr>
          <p:cNvPr id="12" name="rect12"/>
          <p:cNvSpPr/>
          <p:nvPr/>
        </p:nvSpPr>
        <p:spPr>
          <a:xfrm>
            <a:off x="749808" y="1426464"/>
            <a:ext cx="73152" cy="1143000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78408" y="1609344"/>
            <a:ext cx="207568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นักศึกษาทั้งหมด</a:t>
            </a:r>
            <a:endParaRPr lang="th-TH" sz="1200"/>
          </a:p>
        </p:txBody>
      </p:sp>
      <p:sp>
        <p:nvSpPr>
          <p:cNvPr id="14" name="TextBox 14"/>
          <p:cNvSpPr txBox="1"/>
          <p:nvPr/>
        </p:nvSpPr>
        <p:spPr>
          <a:xfrm>
            <a:off x="978408" y="1956816"/>
            <a:ext cx="2075688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16,838</a:t>
            </a:r>
            <a:endParaRPr lang="th-TH" sz="2700"/>
          </a:p>
        </p:txBody>
      </p:sp>
      <p:sp>
        <p:nvSpPr>
          <p:cNvPr id="15" name="roundRect15"/>
          <p:cNvSpPr/>
          <p:nvPr/>
        </p:nvSpPr>
        <p:spPr>
          <a:xfrm>
            <a:off x="3502152" y="1426464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</p:sp>
      <p:sp>
        <p:nvSpPr>
          <p:cNvPr id="16" name="rect16"/>
          <p:cNvSpPr/>
          <p:nvPr/>
        </p:nvSpPr>
        <p:spPr>
          <a:xfrm>
            <a:off x="3502152" y="1426464"/>
            <a:ext cx="73152" cy="1143000"/>
          </a:xfrm>
          <a:prstGeom prst="rect">
            <a:avLst/>
          </a:prstGeom>
          <a:solidFill>
            <a:srgbClr val="7B68E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730752" y="1609344"/>
            <a:ext cx="207568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นักศึกษาคณะวิทย์</a:t>
            </a:r>
            <a:endParaRPr lang="th-TH" sz="1200"/>
          </a:p>
        </p:txBody>
      </p:sp>
      <p:sp>
        <p:nvSpPr>
          <p:cNvPr id="18" name="TextBox 18"/>
          <p:cNvSpPr txBox="1"/>
          <p:nvPr/>
        </p:nvSpPr>
        <p:spPr>
          <a:xfrm>
            <a:off x="3730752" y="1956816"/>
            <a:ext cx="2075688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1,450</a:t>
            </a:r>
            <a:endParaRPr lang="th-TH" sz="2700"/>
          </a:p>
        </p:txBody>
      </p:sp>
      <p:sp>
        <p:nvSpPr>
          <p:cNvPr id="19" name="roundRect19"/>
          <p:cNvSpPr/>
          <p:nvPr/>
        </p:nvSpPr>
        <p:spPr>
          <a:xfrm>
            <a:off x="6254496" y="1426464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</p:sp>
      <p:sp>
        <p:nvSpPr>
          <p:cNvPr id="20" name="rect20"/>
          <p:cNvSpPr/>
          <p:nvPr/>
        </p:nvSpPr>
        <p:spPr>
          <a:xfrm>
            <a:off x="6254496" y="1426464"/>
            <a:ext cx="73152" cy="1143000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483096" y="1609344"/>
            <a:ext cx="207568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GPA คณะวิทย์</a:t>
            </a:r>
            <a:endParaRPr lang="th-TH" sz="1200"/>
          </a:p>
        </p:txBody>
      </p:sp>
      <p:sp>
        <p:nvSpPr>
          <p:cNvPr id="22" name="TextBox 22"/>
          <p:cNvSpPr txBox="1"/>
          <p:nvPr/>
        </p:nvSpPr>
        <p:spPr>
          <a:xfrm>
            <a:off x="6483096" y="1956816"/>
            <a:ext cx="2075688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3.18</a:t>
            </a:r>
            <a:endParaRPr lang="th-TH" sz="2700"/>
          </a:p>
        </p:txBody>
      </p:sp>
      <p:sp>
        <p:nvSpPr>
          <p:cNvPr id="23" name="roundRect23"/>
          <p:cNvSpPr/>
          <p:nvPr/>
        </p:nvSpPr>
        <p:spPr>
          <a:xfrm>
            <a:off x="9006840" y="1426464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</p:sp>
      <p:sp>
        <p:nvSpPr>
          <p:cNvPr id="24" name="rect24"/>
          <p:cNvSpPr/>
          <p:nvPr/>
        </p:nvSpPr>
        <p:spPr>
          <a:xfrm>
            <a:off x="9006840" y="1426464"/>
            <a:ext cx="73152" cy="1143000"/>
          </a:xfrm>
          <a:prstGeom prst="rect">
            <a:avLst/>
          </a:prstGeom>
          <a:solidFill>
            <a:srgbClr val="A23B7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235440" y="1609344"/>
            <a:ext cx="207568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อัตราสำเร็จ</a:t>
            </a:r>
            <a:endParaRPr lang="th-TH" sz="1200"/>
          </a:p>
        </p:txBody>
      </p:sp>
      <p:sp>
        <p:nvSpPr>
          <p:cNvPr id="26" name="TextBox 26"/>
          <p:cNvSpPr txBox="1"/>
          <p:nvPr/>
        </p:nvSpPr>
        <p:spPr>
          <a:xfrm>
            <a:off x="9235440" y="1956816"/>
            <a:ext cx="2075688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91.2%</a:t>
            </a:r>
            <a:endParaRPr lang="th-TH" sz="2700"/>
          </a:p>
        </p:txBody>
      </p:sp>
      <p:sp>
        <p:nvSpPr>
          <p:cNvPr id="27" name="TextBox 27"/>
          <p:cNvSpPr txBox="1"/>
          <p:nvPr/>
        </p:nvSpPr>
        <p:spPr>
          <a:xfrm>
            <a:off x="804672" y="2971800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7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ฟีเจอร์ที่พัฒนาแล้ว</a:t>
            </a:r>
            <a:endParaRPr lang="th-TH" sz="1700"/>
          </a:p>
        </p:txBody>
      </p:sp>
      <p:sp>
        <p:nvSpPr>
          <p:cNvPr id="28" name="Bullet List 28"/>
          <p:cNvSpPr txBox="1"/>
          <p:nvPr/>
        </p:nvSpPr>
        <p:spPr>
          <a:xfrm>
            <a:off x="841248" y="3456432"/>
            <a:ext cx="5303520" cy="2011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19456" indent="-128016">
              <a:buFont typeface="Tahoma"/>
              <a:buChar char="•"/>
            </a:pPr>
            <a:r>
              <a:rPr lang="th-TH" sz="146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Dashboard Home พร้อม KPI Cards และ Daily Insights</a:t>
            </a:r>
            <a:endParaRPr lang="th-TH" sz="1460"/>
          </a:p>
          <a:p>
            <a:pPr marL="219456" indent="-128016">
              <a:buFont typeface="Tahoma"/>
              <a:buChar char="•"/>
            </a:pPr>
            <a:r>
              <a:rPr lang="th-TH" sz="146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หน้าแสดงข้อมูล HR, Student, Research, Finance, OKR และ AI Chat</a:t>
            </a:r>
            <a:endParaRPr lang="th-TH" sz="1460"/>
          </a:p>
          <a:p>
            <a:pPr marL="219456" indent="-128016">
              <a:buFont typeface="Tahoma"/>
              <a:buChar char="•"/>
            </a:pPr>
            <a:r>
              <a:rPr lang="th-TH" sz="146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ตารางรายชื่อนักศึกษา ค้นหา/กรอง/ส่งออก CSV</a:t>
            </a:r>
            <a:endParaRPr lang="th-TH" sz="1460"/>
          </a:p>
          <a:p>
            <a:pPr marL="219456" indent="-128016">
              <a:buFont typeface="Tahoma"/>
              <a:buChar char="•"/>
            </a:pPr>
            <a:r>
              <a:rPr lang="th-TH" sz="146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ตรวจสอบการจบและแสดง Progress ของนักศึกษา</a:t>
            </a:r>
            <a:endParaRPr lang="th-TH" sz="1460"/>
          </a:p>
          <a:p>
            <a:pPr marL="219456" indent="-128016">
              <a:buFont typeface="Tahoma"/>
              <a:buChar char="•"/>
            </a:pPr>
            <a:r>
              <a:rPr lang="th-TH" sz="146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พยากรณ์งบประมาณและตัวชี้วัดด้วย Linear Regression</a:t>
            </a:r>
            <a:endParaRPr lang="th-TH" sz="1460"/>
          </a:p>
        </p:txBody>
      </p:sp>
      <p:sp>
        <p:nvSpPr>
          <p:cNvPr id="29" name="roundRect29"/>
          <p:cNvSpPr/>
          <p:nvPr/>
        </p:nvSpPr>
        <p:spPr>
          <a:xfrm>
            <a:off x="6720840" y="3127248"/>
            <a:ext cx="4224528" cy="2084832"/>
          </a:xfrm>
          <a:prstGeom prst="roundRect">
            <a:avLst/>
          </a:prstGeom>
          <a:solidFill>
            <a:srgbClr val="0B1F17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132320" y="3511296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31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15 หน้าจอ</a:t>
            </a:r>
            <a:endParaRPr lang="th-TH" sz="3100"/>
          </a:p>
        </p:txBody>
      </p:sp>
      <p:sp>
        <p:nvSpPr>
          <p:cNvPr id="31" name="TextBox 31"/>
          <p:cNvSpPr txBox="1"/>
          <p:nvPr/>
        </p:nvSpPr>
        <p:spPr>
          <a:xfrm>
            <a:off x="7114032" y="4206240"/>
            <a:ext cx="3456432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450" dirty="0">
                <a:solidFill>
                  <a:srgbClr val="DDECE0"/>
                </a:solidFill>
                <a:latin typeface="Tahoma"/>
                <a:ea typeface="Tahoma"/>
                <a:cs typeface="Tahoma"/>
              </a:rPr>
              <a:t>ครอบคลุมตั้งแต่ภาพรวมผู้บริหาร</a:t>
            </a:r>
            <a:endParaRPr lang="th-TH" sz="1450"/>
          </a:p>
          <a:p>
            <a:pPr algn="ctr"/>
            <a:r>
              <a:rPr lang="th-TH" sz="1450" dirty="0">
                <a:solidFill>
                  <a:srgbClr val="DDECE0"/>
                </a:solidFill>
                <a:latin typeface="Tahoma"/>
                <a:ea typeface="Tahoma"/>
                <a:cs typeface="Tahoma"/>
              </a:rPr>
              <a:t>จนถึงรายละเอียดนักศึกษาและรายงานเฉพาะด้าน</a:t>
            </a:r>
            <a:endParaRPr lang="th-TH" sz="1450"/>
          </a:p>
        </p:txBody>
      </p:sp>
      <p:sp>
        <p:nvSpPr>
          <p:cNvPr id="32" name="rect32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02920" y="6519672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88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Science AI Dashboard | Final Project Presentation</a:t>
            </a:r>
            <a:endParaRPr lang="th-TH" sz="880"/>
          </a:p>
        </p:txBody>
      </p:sp>
      <p:sp>
        <p:nvSpPr>
          <p:cNvPr id="34" name="TextBox 34"/>
          <p:cNvSpPr txBox="1"/>
          <p:nvPr/>
        </p:nvSpPr>
        <p:spPr>
          <a:xfrm>
            <a:off x="10972800" y="649224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th-TH" sz="95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09</a:t>
            </a:r>
            <a:endParaRPr lang="th-TH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9646920" y="-777240"/>
            <a:ext cx="2971800" cy="1874520"/>
          </a:xfrm>
          <a:prstGeom prst="ellipse">
            <a:avLst/>
          </a:prstGeom>
          <a:solidFill>
            <a:srgbClr val="E4F3E8"/>
          </a:solidFill>
          <a:ln>
            <a:noFill/>
          </a:ln>
        </p:spPr>
      </p:sp>
      <p:sp>
        <p:nvSpPr>
          <p:cNvPr id="3" name="ellipse3"/>
          <p:cNvSpPr/>
          <p:nvPr/>
        </p:nvSpPr>
        <p:spPr>
          <a:xfrm>
            <a:off x="10497312" y="5285232"/>
            <a:ext cx="2359152" cy="1874520"/>
          </a:xfrm>
          <a:prstGeom prst="ellipse">
            <a:avLst/>
          </a:prstGeom>
          <a:solidFill>
            <a:srgbClr val="FFF1C8"/>
          </a:solidFill>
          <a:ln>
            <a:noFill/>
          </a:ln>
        </p:spPr>
      </p:sp>
      <p:sp>
        <p:nvSpPr>
          <p:cNvPr id="4" name="rect4"/>
          <p:cNvSpPr/>
          <p:nvPr/>
        </p:nvSpPr>
        <p:spPr>
          <a:xfrm rot="-540000">
            <a:off x="-685800" y="5989320"/>
            <a:ext cx="3611880" cy="109728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" name="rect5"/>
          <p:cNvSpPr/>
          <p:nvPr/>
        </p:nvSpPr>
        <p:spPr>
          <a:xfrm rot="-1080000">
            <a:off x="10698480" y="868680"/>
            <a:ext cx="1417320" cy="82296"/>
          </a:xfrm>
          <a:prstGeom prst="rect">
            <a:avLst/>
          </a:prstGeom>
          <a:solidFill>
            <a:srgbClr val="00A6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094976" y="13716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rgbClr val="B8D7C0"/>
                </a:solidFill>
                <a:latin typeface="Tahoma"/>
                <a:ea typeface="Tahoma"/>
                <a:cs typeface="Tahoma"/>
              </a:rPr>
              <a:t>SCI</a:t>
            </a:r>
            <a:endParaRPr lang="th-TH" sz="1600"/>
          </a:p>
        </p:txBody>
      </p:sp>
      <p:sp>
        <p:nvSpPr>
          <p:cNvPr id="7" name="rect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8" name="rect8"/>
          <p:cNvSpPr/>
          <p:nvPr/>
        </p:nvSpPr>
        <p:spPr>
          <a:xfrm>
            <a:off x="0" y="164592"/>
            <a:ext cx="1965960" cy="50292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0352" y="3474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1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Science AI Dashboard</a:t>
            </a:r>
            <a:endParaRPr lang="th-TH" sz="1100"/>
          </a:p>
        </p:txBody>
      </p:sp>
      <p:sp>
        <p:nvSpPr>
          <p:cNvPr id="10" name="TextBox 10"/>
          <p:cNvSpPr txBox="1"/>
          <p:nvPr/>
        </p:nvSpPr>
        <p:spPr>
          <a:xfrm>
            <a:off x="530352" y="658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AI Chatbot และการสร้างกราฟอัตโนมัติ</a:t>
            </a:r>
            <a:endParaRPr lang="th-TH" sz="2700"/>
          </a:p>
        </p:txBody>
      </p:sp>
      <p:sp>
        <p:nvSpPr>
          <p:cNvPr id="11" name="roundRect11"/>
          <p:cNvSpPr/>
          <p:nvPr/>
        </p:nvSpPr>
        <p:spPr>
          <a:xfrm>
            <a:off x="749808" y="1508760"/>
            <a:ext cx="2331720" cy="749808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2E86A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14400" y="1755648"/>
            <a:ext cx="1993392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400" b="1" dirty="0">
                <a:solidFill>
                  <a:srgbClr val="2E86AB"/>
                </a:solidFill>
                <a:latin typeface="Tahoma"/>
                <a:ea typeface="Tahoma"/>
                <a:cs typeface="Tahoma"/>
              </a:rPr>
              <a:t>ผู้ใช้ถามภาษาไทย</a:t>
            </a:r>
            <a:endParaRPr lang="th-TH" sz="1400"/>
          </a:p>
        </p:txBody>
      </p:sp>
      <p:sp>
        <p:nvSpPr>
          <p:cNvPr id="13" name="TextBox 13"/>
          <p:cNvSpPr txBox="1"/>
          <p:nvPr/>
        </p:nvSpPr>
        <p:spPr>
          <a:xfrm>
            <a:off x="3328416" y="176479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2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&gt;</a:t>
            </a:r>
            <a:endParaRPr lang="th-TH" sz="2200"/>
          </a:p>
        </p:txBody>
      </p:sp>
      <p:sp>
        <p:nvSpPr>
          <p:cNvPr id="14" name="roundRect14"/>
          <p:cNvSpPr/>
          <p:nvPr/>
        </p:nvSpPr>
        <p:spPr>
          <a:xfrm>
            <a:off x="3840480" y="1508760"/>
            <a:ext cx="2331720" cy="749808"/>
          </a:xfrm>
          <a:prstGeom prst="roundRect">
            <a:avLst/>
          </a:prstGeom>
          <a:solidFill>
            <a:srgbClr val="E7F4EA"/>
          </a:solidFill>
          <a:ln w="12700">
            <a:solidFill>
              <a:srgbClr val="00683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050792" y="175564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4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ระบบเลือกข้อมูล</a:t>
            </a:r>
            <a:endParaRPr lang="th-TH" sz="1400"/>
          </a:p>
        </p:txBody>
      </p:sp>
      <p:sp>
        <p:nvSpPr>
          <p:cNvPr id="16" name="TextBox 16"/>
          <p:cNvSpPr txBox="1"/>
          <p:nvPr/>
        </p:nvSpPr>
        <p:spPr>
          <a:xfrm>
            <a:off x="6428232" y="176479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2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&gt;</a:t>
            </a:r>
            <a:endParaRPr lang="th-TH" sz="2200"/>
          </a:p>
        </p:txBody>
      </p:sp>
      <p:sp>
        <p:nvSpPr>
          <p:cNvPr id="17" name="roundRect17"/>
          <p:cNvSpPr/>
          <p:nvPr/>
        </p:nvSpPr>
        <p:spPr>
          <a:xfrm>
            <a:off x="6931152" y="1508760"/>
            <a:ext cx="2331720" cy="749808"/>
          </a:xfrm>
          <a:prstGeom prst="roundRect">
            <a:avLst/>
          </a:prstGeom>
          <a:solidFill>
            <a:srgbClr val="F7E7F0"/>
          </a:solidFill>
          <a:ln w="12700">
            <a:solidFill>
              <a:srgbClr val="A23B7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150608" y="1755648"/>
            <a:ext cx="1883664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400" b="1" dirty="0">
                <a:solidFill>
                  <a:srgbClr val="A23B72"/>
                </a:solidFill>
                <a:latin typeface="Tahoma"/>
                <a:ea typeface="Tahoma"/>
                <a:cs typeface="Tahoma"/>
              </a:rPr>
              <a:t>Gemini วิเคราะห์</a:t>
            </a:r>
            <a:endParaRPr lang="th-TH" sz="1400"/>
          </a:p>
        </p:txBody>
      </p:sp>
      <p:sp>
        <p:nvSpPr>
          <p:cNvPr id="19" name="TextBox 19"/>
          <p:cNvSpPr txBox="1"/>
          <p:nvPr/>
        </p:nvSpPr>
        <p:spPr>
          <a:xfrm>
            <a:off x="9528048" y="176479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2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&gt;</a:t>
            </a:r>
            <a:endParaRPr lang="th-TH" sz="2200"/>
          </a:p>
        </p:txBody>
      </p:sp>
      <p:sp>
        <p:nvSpPr>
          <p:cNvPr id="20" name="roundRect20"/>
          <p:cNvSpPr/>
          <p:nvPr/>
        </p:nvSpPr>
        <p:spPr>
          <a:xfrm>
            <a:off x="10012680" y="1508760"/>
            <a:ext cx="1417320" cy="749808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C5A02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0168128" y="1755648"/>
            <a:ext cx="1115568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400" b="1" dirty="0">
                <a:solidFill>
                  <a:srgbClr val="C5A028"/>
                </a:solidFill>
                <a:latin typeface="Tahoma"/>
                <a:ea typeface="Tahoma"/>
                <a:cs typeface="Tahoma"/>
              </a:rPr>
              <a:t>กราฟ</a:t>
            </a:r>
            <a:endParaRPr lang="th-TH" sz="1400"/>
          </a:p>
        </p:txBody>
      </p:sp>
      <p:sp>
        <p:nvSpPr>
          <p:cNvPr id="22" name="TextBox 22"/>
          <p:cNvSpPr txBox="1"/>
          <p:nvPr/>
        </p:nvSpPr>
        <p:spPr>
          <a:xfrm>
            <a:off x="841248" y="279806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7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ความสามารถหลัก</a:t>
            </a:r>
            <a:endParaRPr lang="th-TH" sz="1700"/>
          </a:p>
        </p:txBody>
      </p:sp>
      <p:sp>
        <p:nvSpPr>
          <p:cNvPr id="23" name="Bullet List 23"/>
          <p:cNvSpPr txBox="1"/>
          <p:nvPr/>
        </p:nvSpPr>
        <p:spPr>
          <a:xfrm>
            <a:off x="868680" y="3246120"/>
            <a:ext cx="5394960" cy="2011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19456" indent="-128016">
              <a:buFont typeface="Tahoma"/>
              <a:buChar char="•"/>
            </a:pPr>
            <a:r>
              <a:rPr lang="th-TH" sz="146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ตอบคำถามจากข้อมูล Dashboard เป็นภาษาไทย</a:t>
            </a:r>
            <a:endParaRPr lang="th-TH" sz="1460"/>
          </a:p>
          <a:p>
            <a:pPr marL="219456" indent="-128016">
              <a:buFont typeface="Tahoma"/>
              <a:buChar char="•"/>
            </a:pPr>
            <a:r>
              <a:rPr lang="th-TH" sz="146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สร้าง json_chart เพื่อแสดง Bar, Line, Pie, Radar และ Scatter</a:t>
            </a:r>
            <a:endParaRPr lang="th-TH" sz="1460"/>
          </a:p>
          <a:p>
            <a:pPr marL="219456" indent="-128016">
              <a:buFont typeface="Tahoma"/>
              <a:buChar char="•"/>
            </a:pPr>
            <a:r>
              <a:rPr lang="th-TH" sz="146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พยากรณ์แนวโน้ม เช่น งบประมาณ นักศึกษา ผลงานวิจัย</a:t>
            </a:r>
            <a:endParaRPr lang="th-TH" sz="1460"/>
          </a:p>
          <a:p>
            <a:pPr marL="219456" indent="-128016">
              <a:buFont typeface="Tahoma"/>
              <a:buChar char="•"/>
            </a:pPr>
            <a:r>
              <a:rPr lang="th-TH" sz="146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ค้นหานักศึกษาตามรหัส ชื่อ สาขา ชั้นปี GPA และสถานะ</a:t>
            </a:r>
            <a:endParaRPr lang="th-TH" sz="1460"/>
          </a:p>
          <a:p>
            <a:pPr marL="219456" indent="-128016">
              <a:buFont typeface="Tahoma"/>
              <a:buChar char="•"/>
            </a:pPr>
            <a:r>
              <a:rPr lang="th-TH" sz="146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มี fallback model และ cooldown เพื่อจัดการ rate limit ของ API</a:t>
            </a:r>
            <a:endParaRPr lang="th-TH" sz="1460"/>
          </a:p>
        </p:txBody>
      </p:sp>
      <p:sp>
        <p:nvSpPr>
          <p:cNvPr id="24" name="roundRect24"/>
          <p:cNvSpPr/>
          <p:nvPr/>
        </p:nvSpPr>
        <p:spPr>
          <a:xfrm>
            <a:off x="6784848" y="2907792"/>
            <a:ext cx="4279392" cy="2103120"/>
          </a:xfrm>
          <a:prstGeom prst="roundRect">
            <a:avLst/>
          </a:prstGeom>
          <a:solidFill>
            <a:srgbClr val="0B1F1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150608" y="3273552"/>
            <a:ext cx="35478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500" b="1" dirty="0">
                <a:solidFill>
                  <a:srgbClr val="C5A028"/>
                </a:solidFill>
                <a:latin typeface="Tahoma"/>
                <a:ea typeface="Tahoma"/>
                <a:cs typeface="Tahoma"/>
              </a:rPr>
              <a:t>ตัวอย่างคำถาม</a:t>
            </a:r>
            <a:endParaRPr lang="th-TH" sz="1500"/>
          </a:p>
        </p:txBody>
      </p:sp>
      <p:sp>
        <p:nvSpPr>
          <p:cNvPr id="26" name="TextBox 26"/>
          <p:cNvSpPr txBox="1"/>
          <p:nvPr/>
        </p:nvSpPr>
        <p:spPr>
          <a:xfrm>
            <a:off x="7150608" y="3730752"/>
            <a:ext cx="3493008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32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“เปรียบเทียบจำนวนนักศึกษากับ GPA เฉลี่ยแยกตามสาขา”</a:t>
            </a:r>
            <a:endParaRPr lang="th-TH" sz="1320"/>
          </a:p>
          <a:p>
            <a:pPr/>
            <a:r>
              <a:rPr lang="th-TH" sz="132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“พยากรณ์งบประมาณปีหน้าและทำกราฟเส้น”</a:t>
            </a:r>
            <a:endParaRPr lang="th-TH" sz="1320"/>
          </a:p>
        </p:txBody>
      </p:sp>
      <p:sp>
        <p:nvSpPr>
          <p:cNvPr id="27" name="rect27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02920" y="6519672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88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Science AI Dashboard | Final Project Presentation</a:t>
            </a:r>
            <a:endParaRPr lang="th-TH" sz="880"/>
          </a:p>
        </p:txBody>
      </p:sp>
      <p:sp>
        <p:nvSpPr>
          <p:cNvPr id="29" name="TextBox 29"/>
          <p:cNvSpPr txBox="1"/>
          <p:nvPr/>
        </p:nvSpPr>
        <p:spPr>
          <a:xfrm>
            <a:off x="10972800" y="649224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th-TH" sz="95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10</a:t>
            </a:r>
            <a:endParaRPr lang="th-TH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9646920" y="-777240"/>
            <a:ext cx="2971800" cy="1874520"/>
          </a:xfrm>
          <a:prstGeom prst="ellipse">
            <a:avLst/>
          </a:prstGeom>
          <a:solidFill>
            <a:srgbClr val="E4F3E8"/>
          </a:solidFill>
          <a:ln>
            <a:noFill/>
          </a:ln>
        </p:spPr>
      </p:sp>
      <p:sp>
        <p:nvSpPr>
          <p:cNvPr id="3" name="ellipse3"/>
          <p:cNvSpPr/>
          <p:nvPr/>
        </p:nvSpPr>
        <p:spPr>
          <a:xfrm>
            <a:off x="10497312" y="5285232"/>
            <a:ext cx="2359152" cy="1874520"/>
          </a:xfrm>
          <a:prstGeom prst="ellipse">
            <a:avLst/>
          </a:prstGeom>
          <a:solidFill>
            <a:srgbClr val="FFF1C8"/>
          </a:solidFill>
          <a:ln>
            <a:noFill/>
          </a:ln>
        </p:spPr>
      </p:sp>
      <p:sp>
        <p:nvSpPr>
          <p:cNvPr id="4" name="rect4"/>
          <p:cNvSpPr/>
          <p:nvPr/>
        </p:nvSpPr>
        <p:spPr>
          <a:xfrm rot="-540000">
            <a:off x="-685800" y="5989320"/>
            <a:ext cx="3611880" cy="109728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" name="rect5"/>
          <p:cNvSpPr/>
          <p:nvPr/>
        </p:nvSpPr>
        <p:spPr>
          <a:xfrm rot="-1080000">
            <a:off x="10698480" y="868680"/>
            <a:ext cx="1417320" cy="82296"/>
          </a:xfrm>
          <a:prstGeom prst="rect">
            <a:avLst/>
          </a:prstGeom>
          <a:solidFill>
            <a:srgbClr val="00A6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094976" y="13716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rgbClr val="B8D7C0"/>
                </a:solidFill>
                <a:latin typeface="Tahoma"/>
                <a:ea typeface="Tahoma"/>
                <a:cs typeface="Tahoma"/>
              </a:rPr>
              <a:t>SCI</a:t>
            </a:r>
            <a:endParaRPr lang="th-TH" sz="1600"/>
          </a:p>
        </p:txBody>
      </p:sp>
      <p:sp>
        <p:nvSpPr>
          <p:cNvPr id="7" name="rect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8" name="rect8"/>
          <p:cNvSpPr/>
          <p:nvPr/>
        </p:nvSpPr>
        <p:spPr>
          <a:xfrm>
            <a:off x="0" y="164592"/>
            <a:ext cx="1965960" cy="50292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0352" y="3474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1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Science AI Dashboard</a:t>
            </a:r>
            <a:endParaRPr lang="th-TH" sz="1100"/>
          </a:p>
        </p:txBody>
      </p:sp>
      <p:sp>
        <p:nvSpPr>
          <p:cNvPr id="10" name="TextBox 10"/>
          <p:cNvSpPr txBox="1"/>
          <p:nvPr/>
        </p:nvSpPr>
        <p:spPr>
          <a:xfrm>
            <a:off x="530352" y="658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ระบบสิทธิ์ผู้ใช้และการจัดการข้อมูล</a:t>
            </a:r>
            <a:endParaRPr lang="th-TH" sz="2700"/>
          </a:p>
        </p:txBody>
      </p:sp>
      <p:sp>
        <p:nvSpPr>
          <p:cNvPr id="11" name="roundRect11"/>
          <p:cNvSpPr/>
          <p:nvPr/>
        </p:nvSpPr>
        <p:spPr>
          <a:xfrm>
            <a:off x="749808" y="1417320"/>
            <a:ext cx="6766560" cy="2596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</p:sp>
      <p:sp>
        <p:nvSpPr>
          <p:cNvPr id="12" name="rect12"/>
          <p:cNvSpPr/>
          <p:nvPr/>
        </p:nvSpPr>
        <p:spPr>
          <a:xfrm>
            <a:off x="749808" y="1417320"/>
            <a:ext cx="6766560" cy="475488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22960" y="1517904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Role</a:t>
            </a:r>
            <a:endParaRPr lang="th-TH" sz="950"/>
          </a:p>
        </p:txBody>
      </p:sp>
      <p:sp>
        <p:nvSpPr>
          <p:cNvPr id="14" name="TextBox 14"/>
          <p:cNvSpPr txBox="1"/>
          <p:nvPr/>
        </p:nvSpPr>
        <p:spPr>
          <a:xfrm>
            <a:off x="2057400" y="1517904"/>
            <a:ext cx="630936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Level</a:t>
            </a:r>
            <a:endParaRPr lang="th-TH" sz="950"/>
          </a:p>
        </p:txBody>
      </p:sp>
      <p:sp>
        <p:nvSpPr>
          <p:cNvPr id="15" name="TextBox 15"/>
          <p:cNvSpPr txBox="1"/>
          <p:nvPr/>
        </p:nvSpPr>
        <p:spPr>
          <a:xfrm>
            <a:off x="2834640" y="1517904"/>
            <a:ext cx="4608576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ตัวอย่างสิทธิ์</a:t>
            </a:r>
            <a:endParaRPr lang="th-TH" sz="950"/>
          </a:p>
        </p:txBody>
      </p:sp>
      <p:sp>
        <p:nvSpPr>
          <p:cNvPr id="16" name="rect16"/>
          <p:cNvSpPr/>
          <p:nvPr/>
        </p:nvSpPr>
        <p:spPr>
          <a:xfrm>
            <a:off x="749808" y="1892808"/>
            <a:ext cx="676656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22960" y="2002536"/>
            <a:ext cx="10881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Dean</a:t>
            </a:r>
            <a:endParaRPr lang="th-TH" sz="950"/>
          </a:p>
        </p:txBody>
      </p:sp>
      <p:sp>
        <p:nvSpPr>
          <p:cNvPr id="18" name="TextBox 18"/>
          <p:cNvSpPr txBox="1"/>
          <p:nvPr/>
        </p:nvSpPr>
        <p:spPr>
          <a:xfrm>
            <a:off x="2057400" y="2002536"/>
            <a:ext cx="630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1</a:t>
            </a:r>
            <a:endParaRPr lang="th-TH" sz="950"/>
          </a:p>
        </p:txBody>
      </p:sp>
      <p:sp>
        <p:nvSpPr>
          <p:cNvPr id="19" name="TextBox 19"/>
          <p:cNvSpPr txBox="1"/>
          <p:nvPr/>
        </p:nvSpPr>
        <p:spPr>
          <a:xfrm>
            <a:off x="2834640" y="2002536"/>
            <a:ext cx="460857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ดูข้อมูลทุกหมวด, ยุทธศาสตร์, Alert Center, Admin Panel</a:t>
            </a:r>
            <a:endParaRPr lang="th-TH" sz="950"/>
          </a:p>
        </p:txBody>
      </p:sp>
      <p:sp>
        <p:nvSpPr>
          <p:cNvPr id="20" name="rect20"/>
          <p:cNvSpPr/>
          <p:nvPr/>
        </p:nvSpPr>
        <p:spPr>
          <a:xfrm>
            <a:off x="749808" y="2423160"/>
            <a:ext cx="6766560" cy="530352"/>
          </a:xfrm>
          <a:prstGeom prst="rect">
            <a:avLst/>
          </a:prstGeom>
          <a:solidFill>
            <a:srgbClr val="EEF6EF"/>
          </a:solidFill>
          <a:ln>
            <a:noFill/>
          </a:ln>
        </p:spPr>
      </p:sp>
      <p:sp>
        <p:nvSpPr>
          <p:cNvPr id="21" name="rect21"/>
          <p:cNvSpPr/>
          <p:nvPr/>
        </p:nvSpPr>
        <p:spPr>
          <a:xfrm>
            <a:off x="749808" y="2423160"/>
            <a:ext cx="676656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22960" y="2532888"/>
            <a:ext cx="10881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Chair</a:t>
            </a:r>
            <a:endParaRPr lang="th-TH" sz="950"/>
          </a:p>
        </p:txBody>
      </p:sp>
      <p:sp>
        <p:nvSpPr>
          <p:cNvPr id="23" name="TextBox 23"/>
          <p:cNvSpPr txBox="1"/>
          <p:nvPr/>
        </p:nvSpPr>
        <p:spPr>
          <a:xfrm>
            <a:off x="2057400" y="2532888"/>
            <a:ext cx="630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2</a:t>
            </a:r>
            <a:endParaRPr lang="th-TH" sz="950"/>
          </a:p>
        </p:txBody>
      </p:sp>
      <p:sp>
        <p:nvSpPr>
          <p:cNvPr id="24" name="TextBox 24"/>
          <p:cNvSpPr txBox="1"/>
          <p:nvPr/>
        </p:nvSpPr>
        <p:spPr>
          <a:xfrm>
            <a:off x="2834640" y="2532888"/>
            <a:ext cx="460857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ดูข้อมูลหลักสูตร, รายงาน, AI Chat, ข้อมูลเชิงบริหาร</a:t>
            </a:r>
            <a:endParaRPr lang="th-TH" sz="950"/>
          </a:p>
        </p:txBody>
      </p:sp>
      <p:sp>
        <p:nvSpPr>
          <p:cNvPr id="25" name="rect25"/>
          <p:cNvSpPr/>
          <p:nvPr/>
        </p:nvSpPr>
        <p:spPr>
          <a:xfrm>
            <a:off x="749808" y="2953512"/>
            <a:ext cx="676656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22960" y="3063240"/>
            <a:ext cx="10881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Staff</a:t>
            </a:r>
            <a:endParaRPr lang="th-TH" sz="950"/>
          </a:p>
        </p:txBody>
      </p:sp>
      <p:sp>
        <p:nvSpPr>
          <p:cNvPr id="27" name="TextBox 27"/>
          <p:cNvSpPr txBox="1"/>
          <p:nvPr/>
        </p:nvSpPr>
        <p:spPr>
          <a:xfrm>
            <a:off x="2057400" y="3063240"/>
            <a:ext cx="630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3</a:t>
            </a:r>
            <a:endParaRPr lang="th-TH" sz="950"/>
          </a:p>
        </p:txBody>
      </p:sp>
      <p:sp>
        <p:nvSpPr>
          <p:cNvPr id="28" name="TextBox 28"/>
          <p:cNvSpPr txBox="1"/>
          <p:nvPr/>
        </p:nvSpPr>
        <p:spPr>
          <a:xfrm>
            <a:off x="2834640" y="3063240"/>
            <a:ext cx="460857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ดูข้อมูลปฏิบัติการ เช่น นักศึกษา งานวิจัย งบประมาณ</a:t>
            </a:r>
            <a:endParaRPr lang="th-TH" sz="950"/>
          </a:p>
        </p:txBody>
      </p:sp>
      <p:sp>
        <p:nvSpPr>
          <p:cNvPr id="29" name="rect29"/>
          <p:cNvSpPr/>
          <p:nvPr/>
        </p:nvSpPr>
        <p:spPr>
          <a:xfrm>
            <a:off x="749808" y="3483864"/>
            <a:ext cx="6766560" cy="530352"/>
          </a:xfrm>
          <a:prstGeom prst="rect">
            <a:avLst/>
          </a:prstGeom>
          <a:solidFill>
            <a:srgbClr val="EEF6EF"/>
          </a:solidFill>
          <a:ln>
            <a:noFill/>
          </a:ln>
        </p:spPr>
      </p:sp>
      <p:sp>
        <p:nvSpPr>
          <p:cNvPr id="30" name="rect30"/>
          <p:cNvSpPr/>
          <p:nvPr/>
        </p:nvSpPr>
        <p:spPr>
          <a:xfrm>
            <a:off x="749808" y="3483864"/>
            <a:ext cx="676656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22960" y="3593592"/>
            <a:ext cx="10881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Student</a:t>
            </a:r>
            <a:endParaRPr lang="th-TH" sz="950"/>
          </a:p>
        </p:txBody>
      </p:sp>
      <p:sp>
        <p:nvSpPr>
          <p:cNvPr id="32" name="TextBox 32"/>
          <p:cNvSpPr txBox="1"/>
          <p:nvPr/>
        </p:nvSpPr>
        <p:spPr>
          <a:xfrm>
            <a:off x="2057400" y="3593592"/>
            <a:ext cx="6309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4</a:t>
            </a:r>
            <a:endParaRPr lang="th-TH" sz="950"/>
          </a:p>
        </p:txBody>
      </p:sp>
      <p:sp>
        <p:nvSpPr>
          <p:cNvPr id="33" name="TextBox 33"/>
          <p:cNvSpPr txBox="1"/>
          <p:nvPr/>
        </p:nvSpPr>
        <p:spPr>
          <a:xfrm>
            <a:off x="2834640" y="3593592"/>
            <a:ext cx="460857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ดู Dashboard, ค่าเทอม, กิจกรรม และตรวจสอบการจบ</a:t>
            </a:r>
            <a:endParaRPr lang="th-TH" sz="950"/>
          </a:p>
        </p:txBody>
      </p:sp>
      <p:sp>
        <p:nvSpPr>
          <p:cNvPr id="34" name="roundRect34"/>
          <p:cNvSpPr/>
          <p:nvPr/>
        </p:nvSpPr>
        <p:spPr>
          <a:xfrm>
            <a:off x="8092440" y="1417320"/>
            <a:ext cx="3063240" cy="2743200"/>
          </a:xfrm>
          <a:prstGeom prst="roundRect">
            <a:avLst/>
          </a:prstGeom>
          <a:solidFill>
            <a:srgbClr val="E7F4EA"/>
          </a:solidFill>
          <a:ln w="12700">
            <a:solidFill>
              <a:srgbClr val="00683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394192" y="1755648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7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Admin Data Upload</a:t>
            </a:r>
            <a:endParaRPr lang="th-TH" sz="1700"/>
          </a:p>
        </p:txBody>
      </p:sp>
      <p:sp>
        <p:nvSpPr>
          <p:cNvPr id="36" name="Bullet List 36"/>
          <p:cNvSpPr txBox="1"/>
          <p:nvPr/>
        </p:nvSpPr>
        <p:spPr>
          <a:xfrm>
            <a:off x="8430768" y="2331720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19456" indent="-128016">
              <a:buFont typeface="Tahoma"/>
              <a:buChar char="•"/>
            </a:pPr>
            <a:r>
              <a:rPr lang="th-TH" sz="12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รองรับ CSV, TSV, XLSX</a:t>
            </a:r>
            <a:endParaRPr lang="th-TH" sz="1220"/>
          </a:p>
          <a:p>
            <a:pPr marL="219456" indent="-128016">
              <a:buFont typeface="Tahoma"/>
              <a:buChar char="•"/>
            </a:pPr>
            <a:r>
              <a:rPr lang="th-TH" sz="12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Map column อัตโนมัติ</a:t>
            </a:r>
            <a:endParaRPr lang="th-TH" sz="1220"/>
          </a:p>
          <a:p>
            <a:pPr marL="219456" indent="-128016">
              <a:buFont typeface="Tahoma"/>
              <a:buChar char="•"/>
            </a:pPr>
            <a:r>
              <a:rPr lang="th-TH" sz="12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ตรวจข้อมูลซ้ำตามรหัส</a:t>
            </a:r>
            <a:endParaRPr lang="th-TH" sz="1220"/>
          </a:p>
          <a:p>
            <a:pPr marL="219456" indent="-128016">
              <a:buFont typeface="Tahoma"/>
              <a:buChar char="•"/>
            </a:pPr>
            <a:r>
              <a:rPr lang="th-TH" sz="12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อัปโหลดเข้า Firestore</a:t>
            </a:r>
            <a:endParaRPr lang="th-TH" sz="1220"/>
          </a:p>
          <a:p>
            <a:pPr marL="219456" indent="-128016">
              <a:buFont typeface="Tahoma"/>
              <a:buChar char="•"/>
            </a:pPr>
            <a:r>
              <a:rPr lang="th-TH" sz="12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AI ใช้ข้อมูลชุดล่าสุด</a:t>
            </a:r>
            <a:endParaRPr lang="th-TH" sz="1220"/>
          </a:p>
        </p:txBody>
      </p:sp>
      <p:sp>
        <p:nvSpPr>
          <p:cNvPr id="37" name="TextBox 37"/>
          <p:cNvSpPr txBox="1"/>
          <p:nvPr/>
        </p:nvSpPr>
        <p:spPr>
          <a:xfrm>
            <a:off x="914400" y="5285232"/>
            <a:ext cx="10241280" cy="438912"/>
          </a:xfrm>
          <a:prstGeom prst="roundRect">
            <a:avLst/>
          </a:prstGeom>
          <a:solidFill>
            <a:srgbClr val="006838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5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ความสำคัญ: ข้อมูลเชิงบริหารต้องควบคุมสิทธิ์ และชุดข้อมูลต้องอัปเดตได้โดยผู้ดูแลระบบ</a:t>
            </a:r>
            <a:endParaRPr lang="th-TH" sz="1550"/>
          </a:p>
        </p:txBody>
      </p:sp>
      <p:sp>
        <p:nvSpPr>
          <p:cNvPr id="38" name="rect38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02920" y="6519672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88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Science AI Dashboard | Final Project Presentation</a:t>
            </a:r>
            <a:endParaRPr lang="th-TH" sz="880"/>
          </a:p>
        </p:txBody>
      </p:sp>
      <p:sp>
        <p:nvSpPr>
          <p:cNvPr id="40" name="TextBox 40"/>
          <p:cNvSpPr txBox="1"/>
          <p:nvPr/>
        </p:nvSpPr>
        <p:spPr>
          <a:xfrm>
            <a:off x="10972800" y="649224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th-TH" sz="95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11</a:t>
            </a:r>
            <a:endParaRPr lang="th-TH" sz="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9646920" y="-777240"/>
            <a:ext cx="2971800" cy="1874520"/>
          </a:xfrm>
          <a:prstGeom prst="ellipse">
            <a:avLst/>
          </a:prstGeom>
          <a:solidFill>
            <a:srgbClr val="E4F3E8"/>
          </a:solidFill>
          <a:ln>
            <a:noFill/>
          </a:ln>
        </p:spPr>
      </p:sp>
      <p:sp>
        <p:nvSpPr>
          <p:cNvPr id="3" name="ellipse3"/>
          <p:cNvSpPr/>
          <p:nvPr/>
        </p:nvSpPr>
        <p:spPr>
          <a:xfrm>
            <a:off x="10497312" y="5285232"/>
            <a:ext cx="2359152" cy="1874520"/>
          </a:xfrm>
          <a:prstGeom prst="ellipse">
            <a:avLst/>
          </a:prstGeom>
          <a:solidFill>
            <a:srgbClr val="FFF1C8"/>
          </a:solidFill>
          <a:ln>
            <a:noFill/>
          </a:ln>
        </p:spPr>
      </p:sp>
      <p:sp>
        <p:nvSpPr>
          <p:cNvPr id="4" name="rect4"/>
          <p:cNvSpPr/>
          <p:nvPr/>
        </p:nvSpPr>
        <p:spPr>
          <a:xfrm rot="-540000">
            <a:off x="-685800" y="5989320"/>
            <a:ext cx="3611880" cy="109728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" name="rect5"/>
          <p:cNvSpPr/>
          <p:nvPr/>
        </p:nvSpPr>
        <p:spPr>
          <a:xfrm rot="-1080000">
            <a:off x="10698480" y="868680"/>
            <a:ext cx="1417320" cy="82296"/>
          </a:xfrm>
          <a:prstGeom prst="rect">
            <a:avLst/>
          </a:prstGeom>
          <a:solidFill>
            <a:srgbClr val="00A6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094976" y="13716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rgbClr val="B8D7C0"/>
                </a:solidFill>
                <a:latin typeface="Tahoma"/>
                <a:ea typeface="Tahoma"/>
                <a:cs typeface="Tahoma"/>
              </a:rPr>
              <a:t>SCI</a:t>
            </a:r>
            <a:endParaRPr lang="th-TH" sz="1600"/>
          </a:p>
        </p:txBody>
      </p:sp>
      <p:sp>
        <p:nvSpPr>
          <p:cNvPr id="7" name="rect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8" name="rect8"/>
          <p:cNvSpPr/>
          <p:nvPr/>
        </p:nvSpPr>
        <p:spPr>
          <a:xfrm>
            <a:off x="0" y="164592"/>
            <a:ext cx="1965960" cy="50292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0352" y="3474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1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Science AI Dashboard</a:t>
            </a:r>
            <a:endParaRPr lang="th-TH" sz="1100"/>
          </a:p>
        </p:txBody>
      </p:sp>
      <p:sp>
        <p:nvSpPr>
          <p:cNvPr id="10" name="TextBox 10"/>
          <p:cNvSpPr txBox="1"/>
          <p:nvPr/>
        </p:nvSpPr>
        <p:spPr>
          <a:xfrm>
            <a:off x="530352" y="658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การทดสอบระบบ</a:t>
            </a:r>
            <a:endParaRPr lang="th-TH" sz="2700"/>
          </a:p>
        </p:txBody>
      </p:sp>
      <p:sp>
        <p:nvSpPr>
          <p:cNvPr id="11" name="roundRect11"/>
          <p:cNvSpPr/>
          <p:nvPr/>
        </p:nvSpPr>
        <p:spPr>
          <a:xfrm>
            <a:off x="676656" y="1325880"/>
            <a:ext cx="92354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</p:sp>
      <p:sp>
        <p:nvSpPr>
          <p:cNvPr id="12" name="rect12"/>
          <p:cNvSpPr/>
          <p:nvPr/>
        </p:nvSpPr>
        <p:spPr>
          <a:xfrm>
            <a:off x="676656" y="1325880"/>
            <a:ext cx="9235440" cy="475488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49808" y="1426464"/>
            <a:ext cx="2048256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หมวดทดสอบ</a:t>
            </a:r>
            <a:endParaRPr lang="th-TH" sz="950"/>
          </a:p>
        </p:txBody>
      </p:sp>
      <p:sp>
        <p:nvSpPr>
          <p:cNvPr id="14" name="TextBox 14"/>
          <p:cNvSpPr txBox="1"/>
          <p:nvPr/>
        </p:nvSpPr>
        <p:spPr>
          <a:xfrm>
            <a:off x="2944368" y="1426464"/>
            <a:ext cx="5888736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รายการ</a:t>
            </a:r>
            <a:endParaRPr lang="th-TH" sz="950"/>
          </a:p>
        </p:txBody>
      </p:sp>
      <p:sp>
        <p:nvSpPr>
          <p:cNvPr id="15" name="TextBox 15"/>
          <p:cNvSpPr txBox="1"/>
          <p:nvPr/>
        </p:nvSpPr>
        <p:spPr>
          <a:xfrm>
            <a:off x="8979408" y="1426464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ผล</a:t>
            </a:r>
            <a:endParaRPr lang="th-TH" sz="950"/>
          </a:p>
        </p:txBody>
      </p:sp>
      <p:sp>
        <p:nvSpPr>
          <p:cNvPr id="16" name="rect16"/>
          <p:cNvSpPr/>
          <p:nvPr/>
        </p:nvSpPr>
        <p:spPr>
          <a:xfrm>
            <a:off x="676656" y="1801368"/>
            <a:ext cx="923544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49808" y="1911096"/>
            <a:ext cx="204825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4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Authentication</a:t>
            </a:r>
            <a:endParaRPr lang="th-TH" sz="940"/>
          </a:p>
        </p:txBody>
      </p:sp>
      <p:sp>
        <p:nvSpPr>
          <p:cNvPr id="18" name="TextBox 18"/>
          <p:cNvSpPr txBox="1"/>
          <p:nvPr/>
        </p:nvSpPr>
        <p:spPr>
          <a:xfrm>
            <a:off x="2944368" y="1911096"/>
            <a:ext cx="58887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4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เข้าสู่ระบบด้วย Email/Password และ Google Sign-In</a:t>
            </a:r>
            <a:endParaRPr lang="th-TH" sz="940"/>
          </a:p>
        </p:txBody>
      </p:sp>
      <p:sp>
        <p:nvSpPr>
          <p:cNvPr id="19" name="TextBox 19"/>
          <p:cNvSpPr txBox="1"/>
          <p:nvPr/>
        </p:nvSpPr>
        <p:spPr>
          <a:xfrm>
            <a:off x="8979408" y="1911096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4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ผ่าน</a:t>
            </a:r>
            <a:endParaRPr lang="th-TH" sz="940"/>
          </a:p>
        </p:txBody>
      </p:sp>
      <p:sp>
        <p:nvSpPr>
          <p:cNvPr id="20" name="rect20"/>
          <p:cNvSpPr/>
          <p:nvPr/>
        </p:nvSpPr>
        <p:spPr>
          <a:xfrm>
            <a:off x="676656" y="2331720"/>
            <a:ext cx="9235440" cy="530352"/>
          </a:xfrm>
          <a:prstGeom prst="rect">
            <a:avLst/>
          </a:prstGeom>
          <a:solidFill>
            <a:srgbClr val="EEF6EF"/>
          </a:solidFill>
          <a:ln>
            <a:noFill/>
          </a:ln>
        </p:spPr>
      </p:sp>
      <p:sp>
        <p:nvSpPr>
          <p:cNvPr id="21" name="rect21"/>
          <p:cNvSpPr/>
          <p:nvPr/>
        </p:nvSpPr>
        <p:spPr>
          <a:xfrm>
            <a:off x="676656" y="2331720"/>
            <a:ext cx="923544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49808" y="2441448"/>
            <a:ext cx="204825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4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Access Control</a:t>
            </a:r>
            <a:endParaRPr lang="th-TH" sz="940"/>
          </a:p>
        </p:txBody>
      </p:sp>
      <p:sp>
        <p:nvSpPr>
          <p:cNvPr id="23" name="TextBox 23"/>
          <p:cNvSpPr txBox="1"/>
          <p:nvPr/>
        </p:nvSpPr>
        <p:spPr>
          <a:xfrm>
            <a:off x="2944368" y="2441448"/>
            <a:ext cx="58887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4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ผู้ใช้แต่ละ role เข้าถึงเมนูตามสิทธิ์</a:t>
            </a:r>
            <a:endParaRPr lang="th-TH" sz="940"/>
          </a:p>
        </p:txBody>
      </p:sp>
      <p:sp>
        <p:nvSpPr>
          <p:cNvPr id="24" name="TextBox 24"/>
          <p:cNvSpPr txBox="1"/>
          <p:nvPr/>
        </p:nvSpPr>
        <p:spPr>
          <a:xfrm>
            <a:off x="8979408" y="2441448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4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ผ่าน</a:t>
            </a:r>
            <a:endParaRPr lang="th-TH" sz="940"/>
          </a:p>
        </p:txBody>
      </p:sp>
      <p:sp>
        <p:nvSpPr>
          <p:cNvPr id="25" name="rect25"/>
          <p:cNvSpPr/>
          <p:nvPr/>
        </p:nvSpPr>
        <p:spPr>
          <a:xfrm>
            <a:off x="676656" y="2862072"/>
            <a:ext cx="923544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49808" y="2971800"/>
            <a:ext cx="204825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4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Dashboard</a:t>
            </a:r>
            <a:endParaRPr lang="th-TH" sz="940"/>
          </a:p>
        </p:txBody>
      </p:sp>
      <p:sp>
        <p:nvSpPr>
          <p:cNvPr id="27" name="TextBox 27"/>
          <p:cNvSpPr txBox="1"/>
          <p:nvPr/>
        </p:nvSpPr>
        <p:spPr>
          <a:xfrm>
            <a:off x="2944368" y="2971800"/>
            <a:ext cx="58887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4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KPI Cards และกราฟแสดงข้อมูลถูกต้อง</a:t>
            </a:r>
            <a:endParaRPr lang="th-TH" sz="940"/>
          </a:p>
        </p:txBody>
      </p:sp>
      <p:sp>
        <p:nvSpPr>
          <p:cNvPr id="28" name="TextBox 28"/>
          <p:cNvSpPr txBox="1"/>
          <p:nvPr/>
        </p:nvSpPr>
        <p:spPr>
          <a:xfrm>
            <a:off x="8979408" y="2971800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4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ผ่าน</a:t>
            </a:r>
            <a:endParaRPr lang="th-TH" sz="940"/>
          </a:p>
        </p:txBody>
      </p:sp>
      <p:sp>
        <p:nvSpPr>
          <p:cNvPr id="29" name="rect29"/>
          <p:cNvSpPr/>
          <p:nvPr/>
        </p:nvSpPr>
        <p:spPr>
          <a:xfrm>
            <a:off x="676656" y="3392424"/>
            <a:ext cx="9235440" cy="530352"/>
          </a:xfrm>
          <a:prstGeom prst="rect">
            <a:avLst/>
          </a:prstGeom>
          <a:solidFill>
            <a:srgbClr val="EEF6EF"/>
          </a:solidFill>
          <a:ln>
            <a:noFill/>
          </a:ln>
        </p:spPr>
      </p:sp>
      <p:sp>
        <p:nvSpPr>
          <p:cNvPr id="30" name="rect30"/>
          <p:cNvSpPr/>
          <p:nvPr/>
        </p:nvSpPr>
        <p:spPr>
          <a:xfrm>
            <a:off x="676656" y="3392424"/>
            <a:ext cx="923544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49808" y="3502152"/>
            <a:ext cx="204825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4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Student Data</a:t>
            </a:r>
            <a:endParaRPr lang="th-TH" sz="940"/>
          </a:p>
        </p:txBody>
      </p:sp>
      <p:sp>
        <p:nvSpPr>
          <p:cNvPr id="32" name="TextBox 32"/>
          <p:cNvSpPr txBox="1"/>
          <p:nvPr/>
        </p:nvSpPr>
        <p:spPr>
          <a:xfrm>
            <a:off x="2944368" y="3502152"/>
            <a:ext cx="58887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4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ค้นหา กรอง ส่งออก และตรวจการจบ</a:t>
            </a:r>
            <a:endParaRPr lang="th-TH" sz="940"/>
          </a:p>
        </p:txBody>
      </p:sp>
      <p:sp>
        <p:nvSpPr>
          <p:cNvPr id="33" name="TextBox 33"/>
          <p:cNvSpPr txBox="1"/>
          <p:nvPr/>
        </p:nvSpPr>
        <p:spPr>
          <a:xfrm>
            <a:off x="8979408" y="3502152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4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ผ่าน</a:t>
            </a:r>
            <a:endParaRPr lang="th-TH" sz="940"/>
          </a:p>
        </p:txBody>
      </p:sp>
      <p:sp>
        <p:nvSpPr>
          <p:cNvPr id="34" name="rect34"/>
          <p:cNvSpPr/>
          <p:nvPr/>
        </p:nvSpPr>
        <p:spPr>
          <a:xfrm>
            <a:off x="676656" y="3922776"/>
            <a:ext cx="923544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49808" y="4032504"/>
            <a:ext cx="204825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4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AI Chatbot</a:t>
            </a:r>
            <a:endParaRPr lang="th-TH" sz="940"/>
          </a:p>
        </p:txBody>
      </p:sp>
      <p:sp>
        <p:nvSpPr>
          <p:cNvPr id="36" name="TextBox 36"/>
          <p:cNvSpPr txBox="1"/>
          <p:nvPr/>
        </p:nvSpPr>
        <p:spPr>
          <a:xfrm>
            <a:off x="2944368" y="4032504"/>
            <a:ext cx="58887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4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ตอบคำถาม สร้างกราฟ และพยากรณ์แนวโน้ม</a:t>
            </a:r>
            <a:endParaRPr lang="th-TH" sz="940"/>
          </a:p>
        </p:txBody>
      </p:sp>
      <p:sp>
        <p:nvSpPr>
          <p:cNvPr id="37" name="TextBox 37"/>
          <p:cNvSpPr txBox="1"/>
          <p:nvPr/>
        </p:nvSpPr>
        <p:spPr>
          <a:xfrm>
            <a:off x="8979408" y="4032504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4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ผ่าน</a:t>
            </a:r>
            <a:endParaRPr lang="th-TH" sz="940"/>
          </a:p>
        </p:txBody>
      </p:sp>
      <p:sp>
        <p:nvSpPr>
          <p:cNvPr id="38" name="rect38"/>
          <p:cNvSpPr/>
          <p:nvPr/>
        </p:nvSpPr>
        <p:spPr>
          <a:xfrm>
            <a:off x="676656" y="4453128"/>
            <a:ext cx="9235440" cy="530352"/>
          </a:xfrm>
          <a:prstGeom prst="rect">
            <a:avLst/>
          </a:prstGeom>
          <a:solidFill>
            <a:srgbClr val="EEF6EF"/>
          </a:solidFill>
          <a:ln>
            <a:noFill/>
          </a:ln>
        </p:spPr>
      </p:sp>
      <p:sp>
        <p:nvSpPr>
          <p:cNvPr id="39" name="rect39"/>
          <p:cNvSpPr/>
          <p:nvPr/>
        </p:nvSpPr>
        <p:spPr>
          <a:xfrm>
            <a:off x="676656" y="4453128"/>
            <a:ext cx="9235440" cy="9144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49808" y="4562856"/>
            <a:ext cx="204825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4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Responsive</a:t>
            </a:r>
            <a:endParaRPr lang="th-TH" sz="940"/>
          </a:p>
        </p:txBody>
      </p:sp>
      <p:sp>
        <p:nvSpPr>
          <p:cNvPr id="41" name="TextBox 41"/>
          <p:cNvSpPr txBox="1"/>
          <p:nvPr/>
        </p:nvSpPr>
        <p:spPr>
          <a:xfrm>
            <a:off x="2944368" y="4562856"/>
            <a:ext cx="58887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th-TH" sz="94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ใช้งานได้บน Desktop, Tablet และ Mobile</a:t>
            </a:r>
            <a:endParaRPr lang="th-TH" sz="940"/>
          </a:p>
        </p:txBody>
      </p:sp>
      <p:sp>
        <p:nvSpPr>
          <p:cNvPr id="42" name="TextBox 42"/>
          <p:cNvSpPr txBox="1"/>
          <p:nvPr/>
        </p:nvSpPr>
        <p:spPr>
          <a:xfrm>
            <a:off x="8979408" y="4562856"/>
            <a:ext cx="859536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94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ผ่าน</a:t>
            </a:r>
            <a:endParaRPr lang="th-TH" sz="940"/>
          </a:p>
        </p:txBody>
      </p:sp>
      <p:sp>
        <p:nvSpPr>
          <p:cNvPr id="43" name="roundRect43"/>
          <p:cNvSpPr/>
          <p:nvPr/>
        </p:nvSpPr>
        <p:spPr>
          <a:xfrm>
            <a:off x="10012680" y="1417320"/>
            <a:ext cx="1389888" cy="91440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D7E2DA"/>
            </a:solidFill>
          </a:ln>
        </p:spPr>
      </p:sp>
      <p:sp>
        <p:nvSpPr>
          <p:cNvPr id="44" name="rect44"/>
          <p:cNvSpPr/>
          <p:nvPr/>
        </p:nvSpPr>
        <p:spPr>
          <a:xfrm>
            <a:off x="10012680" y="1417320"/>
            <a:ext cx="73152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0241280" y="1600200"/>
            <a:ext cx="97840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Pages</a:t>
            </a:r>
            <a:endParaRPr lang="th-TH" sz="1200"/>
          </a:p>
        </p:txBody>
      </p:sp>
      <p:sp>
        <p:nvSpPr>
          <p:cNvPr id="46" name="TextBox 46"/>
          <p:cNvSpPr txBox="1"/>
          <p:nvPr/>
        </p:nvSpPr>
        <p:spPr>
          <a:xfrm>
            <a:off x="10241280" y="1947672"/>
            <a:ext cx="9784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5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15</a:t>
            </a:r>
            <a:endParaRPr lang="th-TH" sz="2500"/>
          </a:p>
        </p:txBody>
      </p:sp>
      <p:sp>
        <p:nvSpPr>
          <p:cNvPr id="47" name="roundRect47"/>
          <p:cNvSpPr/>
          <p:nvPr/>
        </p:nvSpPr>
        <p:spPr>
          <a:xfrm>
            <a:off x="10012680" y="2606040"/>
            <a:ext cx="1389888" cy="914400"/>
          </a:xfrm>
          <a:prstGeom prst="roundRect">
            <a:avLst/>
          </a:prstGeom>
          <a:solidFill>
            <a:srgbClr val="E7F4EA"/>
          </a:solidFill>
          <a:ln w="12700">
            <a:solidFill>
              <a:srgbClr val="D7E2DA"/>
            </a:solidFill>
          </a:ln>
        </p:spPr>
      </p:sp>
      <p:sp>
        <p:nvSpPr>
          <p:cNvPr id="48" name="rect48"/>
          <p:cNvSpPr/>
          <p:nvPr/>
        </p:nvSpPr>
        <p:spPr>
          <a:xfrm>
            <a:off x="10012680" y="2606040"/>
            <a:ext cx="73152" cy="914400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0241280" y="2788920"/>
            <a:ext cx="97840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Roles</a:t>
            </a:r>
            <a:endParaRPr lang="th-TH" sz="1200"/>
          </a:p>
        </p:txBody>
      </p:sp>
      <p:sp>
        <p:nvSpPr>
          <p:cNvPr id="50" name="TextBox 50"/>
          <p:cNvSpPr txBox="1"/>
          <p:nvPr/>
        </p:nvSpPr>
        <p:spPr>
          <a:xfrm>
            <a:off x="10241280" y="3136392"/>
            <a:ext cx="9784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5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4+</a:t>
            </a:r>
            <a:endParaRPr lang="th-TH" sz="2500"/>
          </a:p>
        </p:txBody>
      </p:sp>
      <p:sp>
        <p:nvSpPr>
          <p:cNvPr id="51" name="roundRect51"/>
          <p:cNvSpPr/>
          <p:nvPr/>
        </p:nvSpPr>
        <p:spPr>
          <a:xfrm>
            <a:off x="10012680" y="3794760"/>
            <a:ext cx="1389888" cy="91440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D7E2DA"/>
            </a:solidFill>
          </a:ln>
        </p:spPr>
      </p:sp>
      <p:sp>
        <p:nvSpPr>
          <p:cNvPr id="52" name="rect52"/>
          <p:cNvSpPr/>
          <p:nvPr/>
        </p:nvSpPr>
        <p:spPr>
          <a:xfrm>
            <a:off x="10012680" y="3794760"/>
            <a:ext cx="73152" cy="914400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0241280" y="3977640"/>
            <a:ext cx="97840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20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Charts</a:t>
            </a:r>
            <a:endParaRPr lang="th-TH" sz="1200"/>
          </a:p>
        </p:txBody>
      </p:sp>
      <p:sp>
        <p:nvSpPr>
          <p:cNvPr id="54" name="TextBox 54"/>
          <p:cNvSpPr txBox="1"/>
          <p:nvPr/>
        </p:nvSpPr>
        <p:spPr>
          <a:xfrm>
            <a:off x="10241280" y="4325112"/>
            <a:ext cx="9784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5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7</a:t>
            </a:r>
            <a:endParaRPr lang="th-TH" sz="2500"/>
          </a:p>
        </p:txBody>
      </p:sp>
      <p:sp>
        <p:nvSpPr>
          <p:cNvPr id="55" name="TextBox 55"/>
          <p:cNvSpPr txBox="1"/>
          <p:nvPr/>
        </p:nvSpPr>
        <p:spPr>
          <a:xfrm>
            <a:off x="877824" y="5742432"/>
            <a:ext cx="102870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th-TH" sz="155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ผลการทดสอบยืนยันว่าระบบทำงานครบตามวัตถุประสงค์หลักของโครงงาน</a:t>
            </a:r>
            <a:endParaRPr lang="th-TH" sz="1550"/>
          </a:p>
        </p:txBody>
      </p:sp>
      <p:sp>
        <p:nvSpPr>
          <p:cNvPr id="56" name="rect56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502920" y="6519672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88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Science AI Dashboard | Final Project Presentation</a:t>
            </a:r>
            <a:endParaRPr lang="th-TH" sz="880"/>
          </a:p>
        </p:txBody>
      </p:sp>
      <p:sp>
        <p:nvSpPr>
          <p:cNvPr id="58" name="TextBox 58"/>
          <p:cNvSpPr txBox="1"/>
          <p:nvPr/>
        </p:nvSpPr>
        <p:spPr>
          <a:xfrm>
            <a:off x="10972800" y="649224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th-TH" sz="95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12</a:t>
            </a:r>
            <a:endParaRPr lang="th-TH" sz="9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9646920" y="-777240"/>
            <a:ext cx="2971800" cy="1874520"/>
          </a:xfrm>
          <a:prstGeom prst="ellipse">
            <a:avLst/>
          </a:prstGeom>
          <a:solidFill>
            <a:srgbClr val="E4F3E8"/>
          </a:solidFill>
          <a:ln>
            <a:noFill/>
          </a:ln>
        </p:spPr>
      </p:sp>
      <p:sp>
        <p:nvSpPr>
          <p:cNvPr id="3" name="ellipse3"/>
          <p:cNvSpPr/>
          <p:nvPr/>
        </p:nvSpPr>
        <p:spPr>
          <a:xfrm>
            <a:off x="10497312" y="5285232"/>
            <a:ext cx="2359152" cy="1874520"/>
          </a:xfrm>
          <a:prstGeom prst="ellipse">
            <a:avLst/>
          </a:prstGeom>
          <a:solidFill>
            <a:srgbClr val="FFF1C8"/>
          </a:solidFill>
          <a:ln>
            <a:noFill/>
          </a:ln>
        </p:spPr>
      </p:sp>
      <p:sp>
        <p:nvSpPr>
          <p:cNvPr id="4" name="rect4"/>
          <p:cNvSpPr/>
          <p:nvPr/>
        </p:nvSpPr>
        <p:spPr>
          <a:xfrm rot="-540000">
            <a:off x="-685800" y="5989320"/>
            <a:ext cx="3611880" cy="109728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" name="rect5"/>
          <p:cNvSpPr/>
          <p:nvPr/>
        </p:nvSpPr>
        <p:spPr>
          <a:xfrm rot="-1080000">
            <a:off x="10698480" y="868680"/>
            <a:ext cx="1417320" cy="82296"/>
          </a:xfrm>
          <a:prstGeom prst="rect">
            <a:avLst/>
          </a:prstGeom>
          <a:solidFill>
            <a:srgbClr val="00A6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094976" y="13716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rgbClr val="B8D7C0"/>
                </a:solidFill>
                <a:latin typeface="Tahoma"/>
                <a:ea typeface="Tahoma"/>
                <a:cs typeface="Tahoma"/>
              </a:rPr>
              <a:t>SCI</a:t>
            </a:r>
            <a:endParaRPr lang="th-TH" sz="1600"/>
          </a:p>
        </p:txBody>
      </p:sp>
      <p:sp>
        <p:nvSpPr>
          <p:cNvPr id="7" name="rect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8" name="rect8"/>
          <p:cNvSpPr/>
          <p:nvPr/>
        </p:nvSpPr>
        <p:spPr>
          <a:xfrm>
            <a:off x="0" y="164592"/>
            <a:ext cx="1965960" cy="50292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0352" y="3474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1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Science AI Dashboard</a:t>
            </a:r>
            <a:endParaRPr lang="th-TH" sz="1100"/>
          </a:p>
        </p:txBody>
      </p:sp>
      <p:sp>
        <p:nvSpPr>
          <p:cNvPr id="10" name="TextBox 10"/>
          <p:cNvSpPr txBox="1"/>
          <p:nvPr/>
        </p:nvSpPr>
        <p:spPr>
          <a:xfrm>
            <a:off x="530352" y="658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ประโยชน์ที่คาดว่าจะได้รับ</a:t>
            </a:r>
            <a:endParaRPr lang="th-TH" sz="2700"/>
          </a:p>
        </p:txBody>
      </p:sp>
      <p:sp>
        <p:nvSpPr>
          <p:cNvPr id="11" name="roundRect11"/>
          <p:cNvSpPr/>
          <p:nvPr/>
        </p:nvSpPr>
        <p:spPr>
          <a:xfrm>
            <a:off x="822960" y="1481328"/>
            <a:ext cx="4800600" cy="1444752"/>
          </a:xfrm>
          <a:prstGeom prst="roundRect">
            <a:avLst/>
          </a:prstGeom>
          <a:solidFill>
            <a:srgbClr val="E7F4EA"/>
          </a:solidFill>
          <a:ln w="12700">
            <a:solidFill>
              <a:srgbClr val="00683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15568" y="1700784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8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ผู้บริหาร</a:t>
            </a:r>
            <a:endParaRPr lang="th-TH" sz="1800"/>
          </a:p>
        </p:txBody>
      </p:sp>
      <p:sp>
        <p:nvSpPr>
          <p:cNvPr id="13" name="TextBox 13"/>
          <p:cNvSpPr txBox="1"/>
          <p:nvPr/>
        </p:nvSpPr>
        <p:spPr>
          <a:xfrm>
            <a:off x="1115568" y="2139696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48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เห็นภาพรวมคณะได้เร็วขึ้นและใช้ข้อมูลประกอบการตัดสินใจ</a:t>
            </a:r>
            <a:endParaRPr lang="th-TH" sz="1480"/>
          </a:p>
        </p:txBody>
      </p:sp>
      <p:sp>
        <p:nvSpPr>
          <p:cNvPr id="14" name="roundRect14"/>
          <p:cNvSpPr/>
          <p:nvPr/>
        </p:nvSpPr>
        <p:spPr>
          <a:xfrm>
            <a:off x="6236208" y="1481328"/>
            <a:ext cx="4800600" cy="14447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2E86A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528816" y="1700784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800" b="1" dirty="0">
                <a:solidFill>
                  <a:srgbClr val="2E86AB"/>
                </a:solidFill>
                <a:latin typeface="Tahoma"/>
                <a:ea typeface="Tahoma"/>
                <a:cs typeface="Tahoma"/>
              </a:rPr>
              <a:t>อาจารย์/เจ้าหน้าที่</a:t>
            </a:r>
            <a:endParaRPr lang="th-TH" sz="1800"/>
          </a:p>
        </p:txBody>
      </p:sp>
      <p:sp>
        <p:nvSpPr>
          <p:cNvPr id="16" name="TextBox 16"/>
          <p:cNvSpPr txBox="1"/>
          <p:nvPr/>
        </p:nvSpPr>
        <p:spPr>
          <a:xfrm>
            <a:off x="6528816" y="2139696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48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ลดเวลาค้นหาและจัดทำรายงานจากหลายแหล่งข้อมูล</a:t>
            </a:r>
            <a:endParaRPr lang="th-TH" sz="1480"/>
          </a:p>
        </p:txBody>
      </p:sp>
      <p:sp>
        <p:nvSpPr>
          <p:cNvPr id="17" name="roundRect17"/>
          <p:cNvSpPr/>
          <p:nvPr/>
        </p:nvSpPr>
        <p:spPr>
          <a:xfrm>
            <a:off x="822960" y="3419856"/>
            <a:ext cx="4800600" cy="1444752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7B68EE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115568" y="363931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800" b="1" dirty="0">
                <a:solidFill>
                  <a:srgbClr val="7B68EE"/>
                </a:solidFill>
                <a:latin typeface="Tahoma"/>
                <a:ea typeface="Tahoma"/>
                <a:cs typeface="Tahoma"/>
              </a:rPr>
              <a:t>นักศึกษา</a:t>
            </a:r>
            <a:endParaRPr lang="th-TH" sz="1800"/>
          </a:p>
        </p:txBody>
      </p:sp>
      <p:sp>
        <p:nvSpPr>
          <p:cNvPr id="19" name="TextBox 19"/>
          <p:cNvSpPr txBox="1"/>
          <p:nvPr/>
        </p:nvSpPr>
        <p:spPr>
          <a:xfrm>
            <a:off x="1115568" y="4078224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48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ตรวจสอบข้อมูลพื้นฐาน ค่าเทอม กิจกรรม และสถานะการจบได้สะดวก</a:t>
            </a:r>
            <a:endParaRPr lang="th-TH" sz="1480"/>
          </a:p>
        </p:txBody>
      </p:sp>
      <p:sp>
        <p:nvSpPr>
          <p:cNvPr id="20" name="roundRect20"/>
          <p:cNvSpPr/>
          <p:nvPr/>
        </p:nvSpPr>
        <p:spPr>
          <a:xfrm>
            <a:off x="6236208" y="3419856"/>
            <a:ext cx="4800600" cy="1444752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C5A02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28816" y="363931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800" b="1" dirty="0">
                <a:solidFill>
                  <a:srgbClr val="C5A028"/>
                </a:solidFill>
                <a:latin typeface="Tahoma"/>
                <a:ea typeface="Tahoma"/>
                <a:cs typeface="Tahoma"/>
              </a:rPr>
              <a:t>ผู้พัฒนา</a:t>
            </a:r>
            <a:endParaRPr lang="th-TH" sz="1800"/>
          </a:p>
        </p:txBody>
      </p:sp>
      <p:sp>
        <p:nvSpPr>
          <p:cNvPr id="22" name="TextBox 22"/>
          <p:cNvSpPr txBox="1"/>
          <p:nvPr/>
        </p:nvSpPr>
        <p:spPr>
          <a:xfrm>
            <a:off x="6528816" y="4078224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48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ได้ฝึกทำ Web App สมัยใหม่ที่รวม React, Firebase, Visualization และ AI API</a:t>
            </a:r>
            <a:endParaRPr lang="th-TH" sz="1480"/>
          </a:p>
        </p:txBody>
      </p:sp>
      <p:sp>
        <p:nvSpPr>
          <p:cNvPr id="23" name="TextBox 23"/>
          <p:cNvSpPr txBox="1"/>
          <p:nvPr/>
        </p:nvSpPr>
        <p:spPr>
          <a:xfrm>
            <a:off x="1078992" y="5504688"/>
            <a:ext cx="10012680" cy="475488"/>
          </a:xfrm>
          <a:prstGeom prst="roundRect">
            <a:avLst/>
          </a:prstGeom>
          <a:solidFill>
            <a:srgbClr val="006838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8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โครงงานนี้เป็น Prototype ที่ต่อยอดไปสู่ระบบข้อมูลจริงของมหาวิทยาลัยได้</a:t>
            </a:r>
            <a:endParaRPr lang="th-TH" sz="1800"/>
          </a:p>
        </p:txBody>
      </p:sp>
      <p:sp>
        <p:nvSpPr>
          <p:cNvPr id="24" name="rect24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02920" y="6519672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88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Science AI Dashboard | Final Project Presentation</a:t>
            </a:r>
            <a:endParaRPr lang="th-TH" sz="880"/>
          </a:p>
        </p:txBody>
      </p:sp>
      <p:sp>
        <p:nvSpPr>
          <p:cNvPr id="26" name="TextBox 26"/>
          <p:cNvSpPr txBox="1"/>
          <p:nvPr/>
        </p:nvSpPr>
        <p:spPr>
          <a:xfrm>
            <a:off x="10972800" y="649224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th-TH" sz="95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13</a:t>
            </a:r>
            <a:endParaRPr lang="th-TH" sz="9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2"/>
          <p:cNvSpPr/>
          <p:nvPr/>
        </p:nvSpPr>
        <p:spPr>
          <a:xfrm>
            <a:off x="9646920" y="-777240"/>
            <a:ext cx="2971800" cy="1874520"/>
          </a:xfrm>
          <a:prstGeom prst="ellipse">
            <a:avLst/>
          </a:prstGeom>
          <a:solidFill>
            <a:srgbClr val="E4F3E8"/>
          </a:solidFill>
          <a:ln>
            <a:noFill/>
          </a:ln>
        </p:spPr>
      </p:sp>
      <p:sp>
        <p:nvSpPr>
          <p:cNvPr id="3" name="ellipse3"/>
          <p:cNvSpPr/>
          <p:nvPr/>
        </p:nvSpPr>
        <p:spPr>
          <a:xfrm>
            <a:off x="10497312" y="5285232"/>
            <a:ext cx="2359152" cy="1874520"/>
          </a:xfrm>
          <a:prstGeom prst="ellipse">
            <a:avLst/>
          </a:prstGeom>
          <a:solidFill>
            <a:srgbClr val="FFF1C8"/>
          </a:solidFill>
          <a:ln>
            <a:noFill/>
          </a:ln>
        </p:spPr>
      </p:sp>
      <p:sp>
        <p:nvSpPr>
          <p:cNvPr id="4" name="rect4"/>
          <p:cNvSpPr/>
          <p:nvPr/>
        </p:nvSpPr>
        <p:spPr>
          <a:xfrm rot="-540000">
            <a:off x="-685800" y="5989320"/>
            <a:ext cx="3611880" cy="109728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5" name="rect5"/>
          <p:cNvSpPr/>
          <p:nvPr/>
        </p:nvSpPr>
        <p:spPr>
          <a:xfrm rot="-1080000">
            <a:off x="10698480" y="868680"/>
            <a:ext cx="1417320" cy="82296"/>
          </a:xfrm>
          <a:prstGeom prst="rect">
            <a:avLst/>
          </a:prstGeom>
          <a:solidFill>
            <a:srgbClr val="00A6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094976" y="137160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600" b="1" dirty="0">
                <a:solidFill>
                  <a:srgbClr val="B8D7C0"/>
                </a:solidFill>
                <a:latin typeface="Tahoma"/>
                <a:ea typeface="Tahoma"/>
                <a:cs typeface="Tahoma"/>
              </a:rPr>
              <a:t>SCI</a:t>
            </a:r>
            <a:endParaRPr lang="th-TH" sz="1600"/>
          </a:p>
        </p:txBody>
      </p:sp>
      <p:sp>
        <p:nvSpPr>
          <p:cNvPr id="7" name="rect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8" name="rect8"/>
          <p:cNvSpPr/>
          <p:nvPr/>
        </p:nvSpPr>
        <p:spPr>
          <a:xfrm>
            <a:off x="0" y="164592"/>
            <a:ext cx="1965960" cy="50292"/>
          </a:xfrm>
          <a:prstGeom prst="rect">
            <a:avLst/>
          </a:prstGeom>
          <a:solidFill>
            <a:srgbClr val="C5A0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0352" y="3474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11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Science AI Dashboard</a:t>
            </a:r>
            <a:endParaRPr lang="th-TH" sz="1100"/>
          </a:p>
        </p:txBody>
      </p:sp>
      <p:sp>
        <p:nvSpPr>
          <p:cNvPr id="10" name="TextBox 10"/>
          <p:cNvSpPr txBox="1"/>
          <p:nvPr/>
        </p:nvSpPr>
        <p:spPr>
          <a:xfrm>
            <a:off x="530352" y="658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2700" b="1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ข้อจำกัดและแนวทางพัฒนาต่อ</a:t>
            </a:r>
            <a:endParaRPr lang="th-TH" sz="2700"/>
          </a:p>
        </p:txBody>
      </p:sp>
      <p:sp>
        <p:nvSpPr>
          <p:cNvPr id="11" name="TextBox 11"/>
          <p:cNvSpPr txBox="1"/>
          <p:nvPr/>
        </p:nvSpPr>
        <p:spPr>
          <a:xfrm>
            <a:off x="822960" y="13716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700" b="1" dirty="0">
                <a:solidFill>
                  <a:srgbClr val="D64545"/>
                </a:solidFill>
                <a:latin typeface="Tahoma"/>
                <a:ea typeface="Tahoma"/>
                <a:cs typeface="Tahoma"/>
              </a:rPr>
              <a:t>ข้อจำกัดปัจจุบัน</a:t>
            </a:r>
            <a:endParaRPr lang="th-TH" sz="1700"/>
          </a:p>
        </p:txBody>
      </p:sp>
      <p:sp>
        <p:nvSpPr>
          <p:cNvPr id="12" name="Bullet List 12"/>
          <p:cNvSpPr txBox="1"/>
          <p:nvPr/>
        </p:nvSpPr>
        <p:spPr>
          <a:xfrm>
            <a:off x="822960" y="1828800"/>
            <a:ext cx="4800600" cy="21214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19456" indent="-128016">
              <a:buFont typeface="Tahoma"/>
              <a:buChar char="•"/>
            </a:pPr>
            <a:r>
              <a:rPr lang="th-TH" sz="14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ใช้ข้อมูลจำลอง/ข้อมูลอ้างอิง ยังไม่เชื่อมฐานข้อมูลจริงของมหาวิทยาลัย</a:t>
            </a:r>
            <a:endParaRPr lang="th-TH" sz="1420"/>
          </a:p>
          <a:p>
            <a:pPr marL="219456" indent="-128016">
              <a:buFont typeface="Tahoma"/>
              <a:buChar char="•"/>
            </a:pPr>
            <a:r>
              <a:rPr lang="th-TH" sz="14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Gemini API มีข้อจำกัดด้าน quota และ rate limit</a:t>
            </a:r>
            <a:endParaRPr lang="th-TH" sz="1420"/>
          </a:p>
          <a:p>
            <a:pPr marL="219456" indent="-128016">
              <a:buFont typeface="Tahoma"/>
              <a:buChar char="•"/>
            </a:pPr>
            <a:r>
              <a:rPr lang="th-TH" sz="14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API Key อยู่ฝั่ง Client ในต้นแบบ จึงควรมี Backend ในระบบจริง</a:t>
            </a:r>
            <a:endParaRPr lang="th-TH" sz="1420"/>
          </a:p>
          <a:p>
            <a:pPr marL="219456" indent="-128016">
              <a:buFont typeface="Tahoma"/>
              <a:buChar char="•"/>
            </a:pPr>
            <a:r>
              <a:rPr lang="th-TH" sz="14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การรับคำสั่งเสียงภาษาไทยยังมีความคลาดเคลื่อนจาก Web Speech API</a:t>
            </a:r>
            <a:endParaRPr lang="th-TH" sz="1420"/>
          </a:p>
        </p:txBody>
      </p:sp>
      <p:sp>
        <p:nvSpPr>
          <p:cNvPr id="13" name="TextBox 13"/>
          <p:cNvSpPr txBox="1"/>
          <p:nvPr/>
        </p:nvSpPr>
        <p:spPr>
          <a:xfrm>
            <a:off x="6419088" y="137160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700" b="1" dirty="0">
                <a:solidFill>
                  <a:srgbClr val="006838"/>
                </a:solidFill>
                <a:latin typeface="Tahoma"/>
                <a:ea typeface="Tahoma"/>
                <a:cs typeface="Tahoma"/>
              </a:rPr>
              <a:t>พัฒนาต่อ</a:t>
            </a:r>
            <a:endParaRPr lang="th-TH" sz="1700"/>
          </a:p>
        </p:txBody>
      </p:sp>
      <p:sp>
        <p:nvSpPr>
          <p:cNvPr id="14" name="Bullet List 14"/>
          <p:cNvSpPr txBox="1"/>
          <p:nvPr/>
        </p:nvSpPr>
        <p:spPr>
          <a:xfrm>
            <a:off x="6419088" y="1828800"/>
            <a:ext cx="4983480" cy="2487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19456" indent="-128016">
              <a:buFont typeface="Tahoma"/>
              <a:buChar char="•"/>
            </a:pPr>
            <a:r>
              <a:rPr lang="th-TH" sz="14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เชื่อม API / Data Warehouse ของมหาวิทยาลัยแบบ Real-time</a:t>
            </a:r>
            <a:endParaRPr lang="th-TH" sz="1420"/>
          </a:p>
          <a:p>
            <a:pPr marL="219456" indent="-128016">
              <a:buFont typeface="Tahoma"/>
              <a:buChar char="•"/>
            </a:pPr>
            <a:r>
              <a:rPr lang="th-TH" sz="14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เพิ่ม Backend สำหรับ security, caching และ rate limiting</a:t>
            </a:r>
            <a:endParaRPr lang="th-TH" sz="1420"/>
          </a:p>
          <a:p>
            <a:pPr marL="219456" indent="-128016">
              <a:buFont typeface="Tahoma"/>
              <a:buChar char="•"/>
            </a:pPr>
            <a:r>
              <a:rPr lang="th-TH" sz="14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เพิ่ม Report Generation เป็น PDF/Excel สำหรับรายงานประจำเดือน</a:t>
            </a:r>
            <a:endParaRPr lang="th-TH" sz="1420"/>
          </a:p>
          <a:p>
            <a:pPr marL="219456" indent="-128016">
              <a:buFont typeface="Tahoma"/>
              <a:buChar char="•"/>
            </a:pPr>
            <a:r>
              <a:rPr lang="th-TH" sz="14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เพิ่มระบบแจ้งเตือน KPI ต่ำกว่าเป้าหมาย</a:t>
            </a:r>
            <a:endParaRPr lang="th-TH" sz="1420"/>
          </a:p>
          <a:p>
            <a:pPr marL="219456" indent="-128016">
              <a:buFont typeface="Tahoma"/>
              <a:buChar char="•"/>
            </a:pPr>
            <a:r>
              <a:rPr lang="th-TH" sz="1420" dirty="0">
                <a:solidFill>
                  <a:srgbClr val="14231B"/>
                </a:solidFill>
                <a:latin typeface="Tahoma"/>
                <a:ea typeface="Tahoma"/>
                <a:cs typeface="Tahoma"/>
              </a:rPr>
              <a:t>พัฒนาโมเดล ML เฉพาะทาง เช่น Drop-out Prediction</a:t>
            </a:r>
            <a:endParaRPr lang="th-TH" sz="1420"/>
          </a:p>
        </p:txBody>
      </p:sp>
      <p:sp>
        <p:nvSpPr>
          <p:cNvPr id="15" name="roundRect15"/>
          <p:cNvSpPr/>
          <p:nvPr/>
        </p:nvSpPr>
        <p:spPr>
          <a:xfrm>
            <a:off x="877824" y="5166360"/>
            <a:ext cx="10204704" cy="512064"/>
          </a:xfrm>
          <a:prstGeom prst="roundRect">
            <a:avLst/>
          </a:prstGeom>
          <a:solidFill>
            <a:srgbClr val="0B1F1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78992" y="5330952"/>
            <a:ext cx="9802368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53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เป้าหมายระยะถัดไป: จาก Prototype ไปสู่ Decision Support System ที่เชื่อมข้อมูลจริง</a:t>
            </a:r>
            <a:endParaRPr lang="th-TH" sz="1530"/>
          </a:p>
        </p:txBody>
      </p:sp>
      <p:sp>
        <p:nvSpPr>
          <p:cNvPr id="17" name="rect17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D7E2D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02920" y="6519672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/>
            <a:r>
              <a:rPr lang="th-TH" sz="880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Science AI Dashboard | Final Project Presentation</a:t>
            </a:r>
            <a:endParaRPr lang="th-TH" sz="880"/>
          </a:p>
        </p:txBody>
      </p:sp>
      <p:sp>
        <p:nvSpPr>
          <p:cNvPr id="19" name="TextBox 19"/>
          <p:cNvSpPr txBox="1"/>
          <p:nvPr/>
        </p:nvSpPr>
        <p:spPr>
          <a:xfrm>
            <a:off x="10972800" y="649224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r"/>
            <a:r>
              <a:rPr lang="th-TH" sz="950" b="1" dirty="0">
                <a:solidFill>
                  <a:srgbClr val="5D6B61"/>
                </a:solidFill>
                <a:latin typeface="Tahoma"/>
                <a:ea typeface="Tahoma"/>
                <a:cs typeface="Tahoma"/>
              </a:rPr>
              <a:t>14</a:t>
            </a:r>
            <a:endParaRPr lang="th-TH" sz="9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7"/>
          </a:solidFill>
          <a:ln>
            <a:noFill/>
          </a:ln>
        </p:spPr>
      </p:sp>
      <p:sp>
        <p:nvSpPr>
          <p:cNvPr id="3" name="rect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83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22960" y="786384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800" b="1" dirty="0">
                <a:solidFill>
                  <a:srgbClr val="C5A028"/>
                </a:solidFill>
                <a:latin typeface="Tahoma"/>
                <a:ea typeface="Tahoma"/>
                <a:cs typeface="Tahoma"/>
              </a:rPr>
              <a:t>สรุปโครงงาน</a:t>
            </a:r>
            <a:endParaRPr lang="th-TH" sz="1800"/>
          </a:p>
        </p:txBody>
      </p:sp>
      <p:sp>
        <p:nvSpPr>
          <p:cNvPr id="5" name="TextBox 5"/>
          <p:cNvSpPr txBox="1"/>
          <p:nvPr/>
        </p:nvSpPr>
        <p:spPr>
          <a:xfrm>
            <a:off x="822960" y="1243584"/>
            <a:ext cx="667512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36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Science AI Dashboard</a:t>
            </a:r>
            <a:endParaRPr lang="th-TH" sz="3600"/>
          </a:p>
        </p:txBody>
      </p:sp>
      <p:sp>
        <p:nvSpPr>
          <p:cNvPr id="6" name="TextBox 6"/>
          <p:cNvSpPr txBox="1"/>
          <p:nvPr/>
        </p:nvSpPr>
        <p:spPr>
          <a:xfrm>
            <a:off x="859536" y="2240280"/>
            <a:ext cx="7406640" cy="7863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900" dirty="0">
                <a:solidFill>
                  <a:srgbClr val="DDECE0"/>
                </a:solidFill>
                <a:latin typeface="Tahoma"/>
                <a:ea typeface="Tahoma"/>
                <a:cs typeface="Tahoma"/>
              </a:rPr>
              <a:t>รวมข้อมูลสำคัญของคณะวิทยาศาสตร์ไว้ใน Dashboard เดียว</a:t>
            </a:r>
            <a:endParaRPr lang="th-TH" sz="1900"/>
          </a:p>
          <a:p>
            <a:pPr/>
            <a:r>
              <a:rPr lang="th-TH" sz="1900" dirty="0">
                <a:solidFill>
                  <a:srgbClr val="DDECE0"/>
                </a:solidFill>
                <a:latin typeface="Tahoma"/>
                <a:ea typeface="Tahoma"/>
                <a:cs typeface="Tahoma"/>
              </a:rPr>
              <a:t>และใช้ AI ช่วยเปลี่ยนคำถามให้เป็นคำตอบ กราฟ และ insight เพื่อการตัดสินใจ</a:t>
            </a:r>
            <a:endParaRPr lang="th-TH" sz="1900"/>
          </a:p>
        </p:txBody>
      </p:sp>
      <p:sp>
        <p:nvSpPr>
          <p:cNvPr id="7" name="roundRect7"/>
          <p:cNvSpPr/>
          <p:nvPr/>
        </p:nvSpPr>
        <p:spPr>
          <a:xfrm>
            <a:off x="8394192" y="987552"/>
            <a:ext cx="2560320" cy="3127248"/>
          </a:xfrm>
          <a:prstGeom prst="roundRect">
            <a:avLst/>
          </a:prstGeom>
          <a:solidFill>
            <a:srgbClr val="102C20"/>
          </a:solidFill>
          <a:ln w="12700">
            <a:solidFill>
              <a:srgbClr val="285A4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705088" y="1353312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th-TH" sz="1700" b="1" dirty="0">
                <a:solidFill>
                  <a:srgbClr val="C5A028"/>
                </a:solidFill>
                <a:latin typeface="Tahoma"/>
                <a:ea typeface="Tahoma"/>
                <a:cs typeface="Tahoma"/>
              </a:rPr>
              <a:t>Demo Flow</a:t>
            </a:r>
            <a:endParaRPr lang="th-TH" sz="1700"/>
          </a:p>
        </p:txBody>
      </p:sp>
      <p:sp>
        <p:nvSpPr>
          <p:cNvPr id="9" name="Bullet List 9"/>
          <p:cNvSpPr txBox="1"/>
          <p:nvPr/>
        </p:nvSpPr>
        <p:spPr>
          <a:xfrm>
            <a:off x="8732520" y="1901952"/>
            <a:ext cx="1847088" cy="1417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19456" indent="-128016">
              <a:buFont typeface="Tahoma"/>
              <a:buChar char="•"/>
            </a:pPr>
            <a:r>
              <a:rPr lang="th-TH" sz="125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Login</a:t>
            </a:r>
            <a:endParaRPr lang="th-TH" sz="1250"/>
          </a:p>
          <a:p>
            <a:pPr marL="219456" indent="-128016">
              <a:buFont typeface="Tahoma"/>
              <a:buChar char="•"/>
            </a:pPr>
            <a:r>
              <a:rPr lang="th-TH" sz="125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Dashboard Home</a:t>
            </a:r>
            <a:endParaRPr lang="th-TH" sz="1250"/>
          </a:p>
          <a:p>
            <a:pPr marL="219456" indent="-128016">
              <a:buFont typeface="Tahoma"/>
              <a:buChar char="•"/>
            </a:pPr>
            <a:r>
              <a:rPr lang="th-TH" sz="125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Student Data</a:t>
            </a:r>
            <a:endParaRPr lang="th-TH" sz="1250"/>
          </a:p>
          <a:p>
            <a:pPr marL="219456" indent="-128016">
              <a:buFont typeface="Tahoma"/>
              <a:buChar char="•"/>
            </a:pPr>
            <a:r>
              <a:rPr lang="th-TH" sz="125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AI Chat</a:t>
            </a:r>
            <a:endParaRPr lang="th-TH" sz="1250"/>
          </a:p>
          <a:p>
            <a:pPr marL="219456" indent="-128016">
              <a:buFont typeface="Tahoma"/>
              <a:buChar char="•"/>
            </a:pPr>
            <a:r>
              <a:rPr lang="th-TH" sz="125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RBAC/Admin</a:t>
            </a:r>
            <a:endParaRPr lang="th-TH" sz="1250"/>
          </a:p>
        </p:txBody>
      </p:sp>
      <p:sp>
        <p:nvSpPr>
          <p:cNvPr id="10" name="TextBox 10"/>
          <p:cNvSpPr txBox="1"/>
          <p:nvPr/>
        </p:nvSpPr>
        <p:spPr>
          <a:xfrm>
            <a:off x="822960" y="4773168"/>
            <a:ext cx="32004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4300" b="1" dirty="0">
                <a:solidFill>
                  <a:srgbClr val="C5A028"/>
                </a:solidFill>
                <a:latin typeface="Tahoma"/>
                <a:ea typeface="Tahoma"/>
                <a:cs typeface="Tahoma"/>
              </a:rPr>
              <a:t>Q &amp; A</a:t>
            </a:r>
            <a:endParaRPr lang="th-TH" sz="4300"/>
          </a:p>
        </p:txBody>
      </p:sp>
      <p:sp>
        <p:nvSpPr>
          <p:cNvPr id="11" name="TextBox 11"/>
          <p:cNvSpPr txBox="1"/>
          <p:nvPr/>
        </p:nvSpPr>
        <p:spPr>
          <a:xfrm>
            <a:off x="877824" y="5614416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th-TH" sz="19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ขอบคุณครับ</a:t>
            </a:r>
            <a:endParaRPr lang="th-TH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ience AI Dashboard">
  <a:themeElements>
    <a:clrScheme name="MJU Science">
      <a:dk1>
        <a:srgbClr val="14231B"/>
      </a:dk1>
      <a:lt1>
        <a:srgbClr val="F7F9F6"/>
      </a:lt1>
      <a:dk2>
        <a:srgbClr val="0B1F17"/>
      </a:dk2>
      <a:lt2>
        <a:srgbClr val="FFFFFF"/>
      </a:lt2>
      <a:accent1>
        <a:srgbClr val="006838"/>
      </a:accent1>
      <a:accent2>
        <a:srgbClr val="C5A028"/>
      </a:accent2>
      <a:accent3>
        <a:srgbClr val="2E86AB"/>
      </a:accent3>
      <a:accent4>
        <a:srgbClr val="A23B72"/>
      </a:accent4>
      <a:accent5>
        <a:srgbClr val="7B68EE"/>
      </a:accent5>
      <a:accent6>
        <a:srgbClr val="F18F01"/>
      </a:accent6>
      <a:hlink>
        <a:srgbClr val="2E86AB"/>
      </a:hlink>
      <a:folHlink>
        <a:srgbClr val="A23B72"/>
      </a:folHlink>
    </a:clrScheme>
    <a:fontScheme name="Sarabun">
      <a:majorFont>
        <a:latin typeface="Tahoma"/>
        <a:ea typeface="Tahoma"/>
        <a:cs typeface="Tahoma"/>
      </a:majorFont>
      <a:minorFont>
        <a:latin typeface="Tahoma"/>
        <a:ea typeface="Tahoma"/>
        <a:cs typeface="Tahoma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0</Notes>
  <HiddenSlides>0</HiddenSlides>
  <MMClips>0</MMClips>
  <ScaleCrop>false</ScaleCrop>
  <Company>Maejo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AI Dashboard Final Project Presentation</dc:title>
  <dc:creator>Codex</dc:creator>
  <cp:lastModifiedBy>Codex</cp:lastModifiedBy>
  <dcterms:created xsi:type="dcterms:W3CDTF">2026-04-26T16:04:26.523Z</dcterms:created>
  <dcterms:modified xsi:type="dcterms:W3CDTF">2026-04-26T16:04:26.523Z</dcterms:modified>
</cp:coreProperties>
</file>